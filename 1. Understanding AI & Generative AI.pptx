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7"/>
  </p:notesMasterIdLst>
  <p:sldIdLst>
    <p:sldId id="256" r:id="rId2"/>
    <p:sldId id="318" r:id="rId3"/>
    <p:sldId id="319" r:id="rId4"/>
    <p:sldId id="260" r:id="rId5"/>
    <p:sldId id="257" r:id="rId6"/>
    <p:sldId id="258" r:id="rId7"/>
    <p:sldId id="259" r:id="rId8"/>
    <p:sldId id="262" r:id="rId9"/>
    <p:sldId id="264" r:id="rId10"/>
    <p:sldId id="265" r:id="rId11"/>
    <p:sldId id="320" r:id="rId12"/>
    <p:sldId id="266" r:id="rId13"/>
    <p:sldId id="321" r:id="rId14"/>
    <p:sldId id="263" r:id="rId15"/>
    <p:sldId id="322" r:id="rId16"/>
    <p:sldId id="323" r:id="rId17"/>
    <p:sldId id="325" r:id="rId18"/>
    <p:sldId id="328" r:id="rId19"/>
    <p:sldId id="326" r:id="rId20"/>
    <p:sldId id="329" r:id="rId21"/>
    <p:sldId id="330" r:id="rId22"/>
    <p:sldId id="334" r:id="rId23"/>
    <p:sldId id="333" r:id="rId24"/>
    <p:sldId id="332" r:id="rId25"/>
    <p:sldId id="33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664BC6-7E2D-4A13-ADB3-D01D0C1349A2}" v="8" dt="2026-09-23T04:51:16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44706" autoAdjust="0"/>
  </p:normalViewPr>
  <p:slideViewPr>
    <p:cSldViewPr snapToGrid="0">
      <p:cViewPr varScale="1">
        <p:scale>
          <a:sx n="37" d="100"/>
          <a:sy n="37" d="100"/>
        </p:scale>
        <p:origin x="244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DD1E6-CA1B-4226-9CA9-2738B9FA33D8}" type="doc">
      <dgm:prSet loTypeId="urn:microsoft.com/office/officeart/2005/8/layout/default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1121DCA2-9E48-482D-94DC-FA1F15765D5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Artificial Narrow Intelligence (ANI)</a:t>
          </a:r>
          <a:endParaRPr lang="en-IN" dirty="0"/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Designed for one specific task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Example: ChatGPT, Google Maps, Siri </a:t>
          </a:r>
        </a:p>
      </dgm:t>
    </dgm:pt>
    <dgm:pt modelId="{F7222551-2141-4846-A2A2-7E37A6E9246D}" type="parTrans" cxnId="{00B0D078-2D02-4A92-894E-C770312EF575}">
      <dgm:prSet/>
      <dgm:spPr/>
      <dgm:t>
        <a:bodyPr/>
        <a:lstStyle/>
        <a:p>
          <a:endParaRPr lang="en-IN"/>
        </a:p>
      </dgm:t>
    </dgm:pt>
    <dgm:pt modelId="{5F0C8DAD-1140-46AF-9C7A-30C95A52DA1A}" type="sibTrans" cxnId="{00B0D078-2D02-4A92-894E-C770312EF575}">
      <dgm:prSet/>
      <dgm:spPr/>
      <dgm:t>
        <a:bodyPr/>
        <a:lstStyle/>
        <a:p>
          <a:endParaRPr lang="en-IN"/>
        </a:p>
      </dgm:t>
    </dgm:pt>
    <dgm:pt modelId="{43328C6C-96F8-4D1B-B206-48AD3F2E696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Artificial General Intelligence (AGI)</a:t>
          </a:r>
          <a:endParaRPr lang="en-IN" dirty="0"/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Can perform any intellectual task like a human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Still under research</a:t>
          </a:r>
        </a:p>
      </dgm:t>
    </dgm:pt>
    <dgm:pt modelId="{92062C67-BB5E-4B6E-A347-D7BC606102CC}" type="parTrans" cxnId="{12E65A41-DDB4-4AB5-BF23-BA682406F1DD}">
      <dgm:prSet/>
      <dgm:spPr/>
      <dgm:t>
        <a:bodyPr/>
        <a:lstStyle/>
        <a:p>
          <a:endParaRPr lang="en-IN"/>
        </a:p>
      </dgm:t>
    </dgm:pt>
    <dgm:pt modelId="{D5E5D0E4-4DDD-4812-B0E5-2C89ED14D00F}" type="sibTrans" cxnId="{12E65A41-DDB4-4AB5-BF23-BA682406F1DD}">
      <dgm:prSet/>
      <dgm:spPr/>
      <dgm:t>
        <a:bodyPr/>
        <a:lstStyle/>
        <a:p>
          <a:endParaRPr lang="en-IN"/>
        </a:p>
      </dgm:t>
    </dgm:pt>
    <dgm:pt modelId="{2E9500F6-EF74-4F80-84AA-5D897F730E20}">
      <dgm:prSet phldrT="[Text]"/>
      <dgm:spPr/>
      <dgm:t>
        <a:bodyPr/>
        <a:lstStyle/>
        <a:p>
          <a:pPr>
            <a:buNone/>
          </a:pPr>
          <a:r>
            <a:rPr lang="en-IN" b="1" dirty="0"/>
            <a:t>Artificial Super Intelligence (ASI)</a:t>
          </a:r>
          <a:endParaRPr lang="en-IN" dirty="0"/>
        </a:p>
        <a:p>
          <a:pPr>
            <a:buNone/>
          </a:pPr>
          <a:r>
            <a:rPr lang="en-IN" dirty="0"/>
            <a:t>More intelligent than humans </a:t>
          </a:r>
        </a:p>
        <a:p>
          <a:pPr>
            <a:buNone/>
          </a:pPr>
          <a:r>
            <a:rPr lang="en-IN" dirty="0"/>
            <a:t>A future concept </a:t>
          </a:r>
        </a:p>
        <a:p>
          <a:pPr>
            <a:buNone/>
          </a:pPr>
          <a:r>
            <a:rPr lang="en-IN" dirty="0"/>
            <a:t>At the bottom, highlight:</a:t>
          </a:r>
        </a:p>
      </dgm:t>
    </dgm:pt>
    <dgm:pt modelId="{E68D2B84-A035-4C0E-95CE-D59D5474AFF0}" type="parTrans" cxnId="{8DDDB8EB-9353-4B88-8540-0403E3CB2924}">
      <dgm:prSet/>
      <dgm:spPr/>
      <dgm:t>
        <a:bodyPr/>
        <a:lstStyle/>
        <a:p>
          <a:endParaRPr lang="en-IN"/>
        </a:p>
      </dgm:t>
    </dgm:pt>
    <dgm:pt modelId="{6019BFDD-51B0-4DBE-A850-A50590E90DCF}" type="sibTrans" cxnId="{8DDDB8EB-9353-4B88-8540-0403E3CB2924}">
      <dgm:prSet/>
      <dgm:spPr/>
      <dgm:t>
        <a:bodyPr/>
        <a:lstStyle/>
        <a:p>
          <a:endParaRPr lang="en-IN"/>
        </a:p>
      </dgm:t>
    </dgm:pt>
    <dgm:pt modelId="{1C68A9B6-8CE2-41A3-94A3-DA65F9654B0E}" type="pres">
      <dgm:prSet presAssocID="{3F9DD1E6-CA1B-4226-9CA9-2738B9FA33D8}" presName="diagram" presStyleCnt="0">
        <dgm:presLayoutVars>
          <dgm:dir/>
          <dgm:resizeHandles val="exact"/>
        </dgm:presLayoutVars>
      </dgm:prSet>
      <dgm:spPr/>
    </dgm:pt>
    <dgm:pt modelId="{DF285C57-34E3-4654-9E9B-61336914B028}" type="pres">
      <dgm:prSet presAssocID="{1121DCA2-9E48-482D-94DC-FA1F15765D5E}" presName="node" presStyleLbl="node1" presStyleIdx="0" presStyleCnt="3">
        <dgm:presLayoutVars>
          <dgm:bulletEnabled val="1"/>
        </dgm:presLayoutVars>
      </dgm:prSet>
      <dgm:spPr/>
    </dgm:pt>
    <dgm:pt modelId="{EF6663F0-AB59-4704-8820-E10F7E9701A4}" type="pres">
      <dgm:prSet presAssocID="{5F0C8DAD-1140-46AF-9C7A-30C95A52DA1A}" presName="sibTrans" presStyleCnt="0"/>
      <dgm:spPr/>
    </dgm:pt>
    <dgm:pt modelId="{74DE6495-3D69-4334-8B54-ED8614E43859}" type="pres">
      <dgm:prSet presAssocID="{43328C6C-96F8-4D1B-B206-48AD3F2E696D}" presName="node" presStyleLbl="node1" presStyleIdx="1" presStyleCnt="3">
        <dgm:presLayoutVars>
          <dgm:bulletEnabled val="1"/>
        </dgm:presLayoutVars>
      </dgm:prSet>
      <dgm:spPr/>
    </dgm:pt>
    <dgm:pt modelId="{8016B1DF-58BF-47B3-8D88-1C9A99BF2437}" type="pres">
      <dgm:prSet presAssocID="{D5E5D0E4-4DDD-4812-B0E5-2C89ED14D00F}" presName="sibTrans" presStyleCnt="0"/>
      <dgm:spPr/>
    </dgm:pt>
    <dgm:pt modelId="{C5C3509A-17C2-4D1F-A85F-FE73A6C4DE40}" type="pres">
      <dgm:prSet presAssocID="{2E9500F6-EF74-4F80-84AA-5D897F730E20}" presName="node" presStyleLbl="node1" presStyleIdx="2" presStyleCnt="3">
        <dgm:presLayoutVars>
          <dgm:bulletEnabled val="1"/>
        </dgm:presLayoutVars>
      </dgm:prSet>
      <dgm:spPr/>
    </dgm:pt>
  </dgm:ptLst>
  <dgm:cxnLst>
    <dgm:cxn modelId="{5BEA7402-D793-463F-97E4-CBFABDEA3007}" type="presOf" srcId="{1121DCA2-9E48-482D-94DC-FA1F15765D5E}" destId="{DF285C57-34E3-4654-9E9B-61336914B028}" srcOrd="0" destOrd="0" presId="urn:microsoft.com/office/officeart/2005/8/layout/default"/>
    <dgm:cxn modelId="{7028D92B-C712-446B-B421-835D20FCD8B4}" type="presOf" srcId="{3F9DD1E6-CA1B-4226-9CA9-2738B9FA33D8}" destId="{1C68A9B6-8CE2-41A3-94A3-DA65F9654B0E}" srcOrd="0" destOrd="0" presId="urn:microsoft.com/office/officeart/2005/8/layout/default"/>
    <dgm:cxn modelId="{12E65A41-DDB4-4AB5-BF23-BA682406F1DD}" srcId="{3F9DD1E6-CA1B-4226-9CA9-2738B9FA33D8}" destId="{43328C6C-96F8-4D1B-B206-48AD3F2E696D}" srcOrd="1" destOrd="0" parTransId="{92062C67-BB5E-4B6E-A347-D7BC606102CC}" sibTransId="{D5E5D0E4-4DDD-4812-B0E5-2C89ED14D00F}"/>
    <dgm:cxn modelId="{7DEC1973-8699-42B8-B6A3-56A921883E4C}" type="presOf" srcId="{2E9500F6-EF74-4F80-84AA-5D897F730E20}" destId="{C5C3509A-17C2-4D1F-A85F-FE73A6C4DE40}" srcOrd="0" destOrd="0" presId="urn:microsoft.com/office/officeart/2005/8/layout/default"/>
    <dgm:cxn modelId="{00B0D078-2D02-4A92-894E-C770312EF575}" srcId="{3F9DD1E6-CA1B-4226-9CA9-2738B9FA33D8}" destId="{1121DCA2-9E48-482D-94DC-FA1F15765D5E}" srcOrd="0" destOrd="0" parTransId="{F7222551-2141-4846-A2A2-7E37A6E9246D}" sibTransId="{5F0C8DAD-1140-46AF-9C7A-30C95A52DA1A}"/>
    <dgm:cxn modelId="{8DDDB8EB-9353-4B88-8540-0403E3CB2924}" srcId="{3F9DD1E6-CA1B-4226-9CA9-2738B9FA33D8}" destId="{2E9500F6-EF74-4F80-84AA-5D897F730E20}" srcOrd="2" destOrd="0" parTransId="{E68D2B84-A035-4C0E-95CE-D59D5474AFF0}" sibTransId="{6019BFDD-51B0-4DBE-A850-A50590E90DCF}"/>
    <dgm:cxn modelId="{F55FBAF2-B176-43E6-95D6-C10B672A4BB1}" type="presOf" srcId="{43328C6C-96F8-4D1B-B206-48AD3F2E696D}" destId="{74DE6495-3D69-4334-8B54-ED8614E43859}" srcOrd="0" destOrd="0" presId="urn:microsoft.com/office/officeart/2005/8/layout/default"/>
    <dgm:cxn modelId="{EB907A72-A067-440B-881A-57B06DC019AE}" type="presParOf" srcId="{1C68A9B6-8CE2-41A3-94A3-DA65F9654B0E}" destId="{DF285C57-34E3-4654-9E9B-61336914B028}" srcOrd="0" destOrd="0" presId="urn:microsoft.com/office/officeart/2005/8/layout/default"/>
    <dgm:cxn modelId="{B235BE7D-5BC9-4C5C-BF6D-BD56C8F762F8}" type="presParOf" srcId="{1C68A9B6-8CE2-41A3-94A3-DA65F9654B0E}" destId="{EF6663F0-AB59-4704-8820-E10F7E9701A4}" srcOrd="1" destOrd="0" presId="urn:microsoft.com/office/officeart/2005/8/layout/default"/>
    <dgm:cxn modelId="{65C41347-B8D5-4A99-B5A7-6F993E389206}" type="presParOf" srcId="{1C68A9B6-8CE2-41A3-94A3-DA65F9654B0E}" destId="{74DE6495-3D69-4334-8B54-ED8614E43859}" srcOrd="2" destOrd="0" presId="urn:microsoft.com/office/officeart/2005/8/layout/default"/>
    <dgm:cxn modelId="{8C830D15-5FEC-467A-A3CF-79725FCA60FA}" type="presParOf" srcId="{1C68A9B6-8CE2-41A3-94A3-DA65F9654B0E}" destId="{8016B1DF-58BF-47B3-8D88-1C9A99BF2437}" srcOrd="3" destOrd="0" presId="urn:microsoft.com/office/officeart/2005/8/layout/default"/>
    <dgm:cxn modelId="{5910E6FB-391B-4CBA-BD5D-34158B650CD0}" type="presParOf" srcId="{1C68A9B6-8CE2-41A3-94A3-DA65F9654B0E}" destId="{C5C3509A-17C2-4D1F-A85F-FE73A6C4DE4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D9E46C-54C6-484A-B1DF-CDADD889ACF9}" type="doc">
      <dgm:prSet loTypeId="urn:microsoft.com/office/officeart/2005/8/layout/process2" loCatId="process" qsTypeId="urn:microsoft.com/office/officeart/2005/8/quickstyle/simple1#2" qsCatId="simple" csTypeId="urn:microsoft.com/office/officeart/2005/8/colors/accent1_2#2" csCatId="accent1" phldr="1"/>
      <dgm:spPr/>
    </dgm:pt>
    <dgm:pt modelId="{3AF2720C-82B8-46E4-A787-95CC451E6599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Input Data</a:t>
          </a:r>
        </a:p>
      </dgm:t>
    </dgm:pt>
    <dgm:pt modelId="{A7E79384-9BC5-49E4-90A3-BB00F91CC8F7}" type="parTrans" cxnId="{BA321F63-E2E8-4C68-857E-C2A2B8B1E9C0}">
      <dgm:prSet/>
      <dgm:spPr/>
      <dgm:t>
        <a:bodyPr/>
        <a:lstStyle/>
        <a:p>
          <a:endParaRPr lang="en-IN"/>
        </a:p>
      </dgm:t>
    </dgm:pt>
    <dgm:pt modelId="{550B057E-C4BE-41AF-996F-1FAA2FFCD012}" type="sibTrans" cxnId="{BA321F63-E2E8-4C68-857E-C2A2B8B1E9C0}">
      <dgm:prSet/>
      <dgm:spPr/>
      <dgm:t>
        <a:bodyPr/>
        <a:lstStyle/>
        <a:p>
          <a:endParaRPr lang="en-IN"/>
        </a:p>
      </dgm:t>
    </dgm:pt>
    <dgm:pt modelId="{8BA86369-9132-45D1-B45A-C531570E477F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 Prediction</a:t>
          </a:r>
        </a:p>
      </dgm:t>
    </dgm:pt>
    <dgm:pt modelId="{63A38BDB-2380-418A-997B-70E8C5B30B80}" type="parTrans" cxnId="{E7714085-68A0-4F6E-8B74-6E6924644F09}">
      <dgm:prSet/>
      <dgm:spPr/>
      <dgm:t>
        <a:bodyPr/>
        <a:lstStyle/>
        <a:p>
          <a:endParaRPr lang="en-IN"/>
        </a:p>
      </dgm:t>
    </dgm:pt>
    <dgm:pt modelId="{DBEE53B2-F3CB-42A0-A8A1-79DA2DB01163}" type="sibTrans" cxnId="{E7714085-68A0-4F6E-8B74-6E6924644F09}">
      <dgm:prSet/>
      <dgm:spPr/>
      <dgm:t>
        <a:bodyPr/>
        <a:lstStyle/>
        <a:p>
          <a:endParaRPr lang="en-IN"/>
        </a:p>
      </dgm:t>
    </dgm:pt>
    <dgm:pt modelId="{0060DDC3-9525-499D-961B-408D338ED17F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 Output</a:t>
          </a:r>
        </a:p>
      </dgm:t>
    </dgm:pt>
    <dgm:pt modelId="{36D3C3DA-F1D0-4124-8C0F-3C2168D3D1C7}" type="parTrans" cxnId="{6E62CAA6-0D6D-4109-B8CF-445C2840E6CD}">
      <dgm:prSet/>
      <dgm:spPr/>
      <dgm:t>
        <a:bodyPr/>
        <a:lstStyle/>
        <a:p>
          <a:endParaRPr lang="en-IN"/>
        </a:p>
      </dgm:t>
    </dgm:pt>
    <dgm:pt modelId="{A8A6BCCF-7B31-4808-AC7F-34537DF72354}" type="sibTrans" cxnId="{6E62CAA6-0D6D-4109-B8CF-445C2840E6CD}">
      <dgm:prSet/>
      <dgm:spPr/>
      <dgm:t>
        <a:bodyPr/>
        <a:lstStyle/>
        <a:p>
          <a:endParaRPr lang="en-IN"/>
        </a:p>
      </dgm:t>
    </dgm:pt>
    <dgm:pt modelId="{6DEAEE0C-4CE4-457B-87FC-9CEB0865B4C1}" type="pres">
      <dgm:prSet presAssocID="{51D9E46C-54C6-484A-B1DF-CDADD889ACF9}" presName="linearFlow" presStyleCnt="0">
        <dgm:presLayoutVars>
          <dgm:resizeHandles val="exact"/>
        </dgm:presLayoutVars>
      </dgm:prSet>
      <dgm:spPr/>
    </dgm:pt>
    <dgm:pt modelId="{29FE9247-E86A-4849-BA5E-E30053E253AF}" type="pres">
      <dgm:prSet presAssocID="{3AF2720C-82B8-46E4-A787-95CC451E6599}" presName="node" presStyleLbl="node1" presStyleIdx="0" presStyleCnt="3">
        <dgm:presLayoutVars>
          <dgm:bulletEnabled val="1"/>
        </dgm:presLayoutVars>
      </dgm:prSet>
      <dgm:spPr/>
    </dgm:pt>
    <dgm:pt modelId="{3B1B20C6-D0EA-49EB-B00C-BE4E64BE5540}" type="pres">
      <dgm:prSet presAssocID="{550B057E-C4BE-41AF-996F-1FAA2FFCD012}" presName="sibTrans" presStyleLbl="sibTrans2D1" presStyleIdx="0" presStyleCnt="2"/>
      <dgm:spPr/>
    </dgm:pt>
    <dgm:pt modelId="{72A7E7AE-EBF9-4517-A314-181F4EDC4511}" type="pres">
      <dgm:prSet presAssocID="{550B057E-C4BE-41AF-996F-1FAA2FFCD012}" presName="connectorText" presStyleLbl="sibTrans2D1" presStyleIdx="0" presStyleCnt="2"/>
      <dgm:spPr/>
    </dgm:pt>
    <dgm:pt modelId="{7B0E256E-F6C2-4306-9CE5-2166D6040ABE}" type="pres">
      <dgm:prSet presAssocID="{8BA86369-9132-45D1-B45A-C531570E477F}" presName="node" presStyleLbl="node1" presStyleIdx="1" presStyleCnt="3">
        <dgm:presLayoutVars>
          <dgm:bulletEnabled val="1"/>
        </dgm:presLayoutVars>
      </dgm:prSet>
      <dgm:spPr/>
    </dgm:pt>
    <dgm:pt modelId="{92BDC470-F6D7-415F-828E-BDFEAC7D1F92}" type="pres">
      <dgm:prSet presAssocID="{DBEE53B2-F3CB-42A0-A8A1-79DA2DB01163}" presName="sibTrans" presStyleLbl="sibTrans2D1" presStyleIdx="1" presStyleCnt="2"/>
      <dgm:spPr/>
    </dgm:pt>
    <dgm:pt modelId="{EDD924BC-5D7B-4CD1-80F2-026DCA65BD32}" type="pres">
      <dgm:prSet presAssocID="{DBEE53B2-F3CB-42A0-A8A1-79DA2DB01163}" presName="connectorText" presStyleLbl="sibTrans2D1" presStyleIdx="1" presStyleCnt="2"/>
      <dgm:spPr/>
    </dgm:pt>
    <dgm:pt modelId="{24E0FB7D-B6CD-42C0-B54C-57BE9261682F}" type="pres">
      <dgm:prSet presAssocID="{0060DDC3-9525-499D-961B-408D338ED17F}" presName="node" presStyleLbl="node1" presStyleIdx="2" presStyleCnt="3">
        <dgm:presLayoutVars>
          <dgm:bulletEnabled val="1"/>
        </dgm:presLayoutVars>
      </dgm:prSet>
      <dgm:spPr/>
    </dgm:pt>
  </dgm:ptLst>
  <dgm:cxnLst>
    <dgm:cxn modelId="{9C618E2F-CBAD-49F0-948E-B9E32093080E}" type="presOf" srcId="{51D9E46C-54C6-484A-B1DF-CDADD889ACF9}" destId="{6DEAEE0C-4CE4-457B-87FC-9CEB0865B4C1}" srcOrd="0" destOrd="0" presId="urn:microsoft.com/office/officeart/2005/8/layout/process2"/>
    <dgm:cxn modelId="{785FDF33-81D1-4B9A-A6BB-839555094C69}" type="presOf" srcId="{DBEE53B2-F3CB-42A0-A8A1-79DA2DB01163}" destId="{EDD924BC-5D7B-4CD1-80F2-026DCA65BD32}" srcOrd="1" destOrd="0" presId="urn:microsoft.com/office/officeart/2005/8/layout/process2"/>
    <dgm:cxn modelId="{1F593B5D-F2BD-40EE-802E-FBD1379F6D98}" type="presOf" srcId="{550B057E-C4BE-41AF-996F-1FAA2FFCD012}" destId="{72A7E7AE-EBF9-4517-A314-181F4EDC4511}" srcOrd="1" destOrd="0" presId="urn:microsoft.com/office/officeart/2005/8/layout/process2"/>
    <dgm:cxn modelId="{BA321F63-E2E8-4C68-857E-C2A2B8B1E9C0}" srcId="{51D9E46C-54C6-484A-B1DF-CDADD889ACF9}" destId="{3AF2720C-82B8-46E4-A787-95CC451E6599}" srcOrd="0" destOrd="0" parTransId="{A7E79384-9BC5-49E4-90A3-BB00F91CC8F7}" sibTransId="{550B057E-C4BE-41AF-996F-1FAA2FFCD012}"/>
    <dgm:cxn modelId="{50037C50-9090-46C0-8152-6282C7EEBDE8}" type="presOf" srcId="{0060DDC3-9525-499D-961B-408D338ED17F}" destId="{24E0FB7D-B6CD-42C0-B54C-57BE9261682F}" srcOrd="0" destOrd="0" presId="urn:microsoft.com/office/officeart/2005/8/layout/process2"/>
    <dgm:cxn modelId="{0C094371-41C0-4C3D-B517-2B9FC12E3129}" type="presOf" srcId="{DBEE53B2-F3CB-42A0-A8A1-79DA2DB01163}" destId="{92BDC470-F6D7-415F-828E-BDFEAC7D1F92}" srcOrd="0" destOrd="0" presId="urn:microsoft.com/office/officeart/2005/8/layout/process2"/>
    <dgm:cxn modelId="{3C4B0854-5A7B-483B-989B-5C20CC96BDE3}" type="presOf" srcId="{550B057E-C4BE-41AF-996F-1FAA2FFCD012}" destId="{3B1B20C6-D0EA-49EB-B00C-BE4E64BE5540}" srcOrd="0" destOrd="0" presId="urn:microsoft.com/office/officeart/2005/8/layout/process2"/>
    <dgm:cxn modelId="{E7714085-68A0-4F6E-8B74-6E6924644F09}" srcId="{51D9E46C-54C6-484A-B1DF-CDADD889ACF9}" destId="{8BA86369-9132-45D1-B45A-C531570E477F}" srcOrd="1" destOrd="0" parTransId="{63A38BDB-2380-418A-997B-70E8C5B30B80}" sibTransId="{DBEE53B2-F3CB-42A0-A8A1-79DA2DB01163}"/>
    <dgm:cxn modelId="{6E62CAA6-0D6D-4109-B8CF-445C2840E6CD}" srcId="{51D9E46C-54C6-484A-B1DF-CDADD889ACF9}" destId="{0060DDC3-9525-499D-961B-408D338ED17F}" srcOrd="2" destOrd="0" parTransId="{36D3C3DA-F1D0-4124-8C0F-3C2168D3D1C7}" sibTransId="{A8A6BCCF-7B31-4808-AC7F-34537DF72354}"/>
    <dgm:cxn modelId="{E63BA9D5-D889-43CA-93F0-E50CDDF1357B}" type="presOf" srcId="{8BA86369-9132-45D1-B45A-C531570E477F}" destId="{7B0E256E-F6C2-4306-9CE5-2166D6040ABE}" srcOrd="0" destOrd="0" presId="urn:microsoft.com/office/officeart/2005/8/layout/process2"/>
    <dgm:cxn modelId="{B3C622E9-3D7E-4EDB-9F41-2C16EC1E9354}" type="presOf" srcId="{3AF2720C-82B8-46E4-A787-95CC451E6599}" destId="{29FE9247-E86A-4849-BA5E-E30053E253AF}" srcOrd="0" destOrd="0" presId="urn:microsoft.com/office/officeart/2005/8/layout/process2"/>
    <dgm:cxn modelId="{D1C51D9D-EC43-4CD9-919F-2894F053155B}" type="presParOf" srcId="{6DEAEE0C-4CE4-457B-87FC-9CEB0865B4C1}" destId="{29FE9247-E86A-4849-BA5E-E30053E253AF}" srcOrd="0" destOrd="0" presId="urn:microsoft.com/office/officeart/2005/8/layout/process2"/>
    <dgm:cxn modelId="{35B5C4BC-4F61-466D-BD2C-C499696F7DDD}" type="presParOf" srcId="{6DEAEE0C-4CE4-457B-87FC-9CEB0865B4C1}" destId="{3B1B20C6-D0EA-49EB-B00C-BE4E64BE5540}" srcOrd="1" destOrd="0" presId="urn:microsoft.com/office/officeart/2005/8/layout/process2"/>
    <dgm:cxn modelId="{9552C5C8-47D9-48CA-BEF7-2F50295345D3}" type="presParOf" srcId="{3B1B20C6-D0EA-49EB-B00C-BE4E64BE5540}" destId="{72A7E7AE-EBF9-4517-A314-181F4EDC4511}" srcOrd="0" destOrd="0" presId="urn:microsoft.com/office/officeart/2005/8/layout/process2"/>
    <dgm:cxn modelId="{D0BAD0F9-8EC6-43DD-AFE9-D2C55F45DB3B}" type="presParOf" srcId="{6DEAEE0C-4CE4-457B-87FC-9CEB0865B4C1}" destId="{7B0E256E-F6C2-4306-9CE5-2166D6040ABE}" srcOrd="2" destOrd="0" presId="urn:microsoft.com/office/officeart/2005/8/layout/process2"/>
    <dgm:cxn modelId="{7E95A722-F9A1-4CEF-B59F-45EF77778CDA}" type="presParOf" srcId="{6DEAEE0C-4CE4-457B-87FC-9CEB0865B4C1}" destId="{92BDC470-F6D7-415F-828E-BDFEAC7D1F92}" srcOrd="3" destOrd="0" presId="urn:microsoft.com/office/officeart/2005/8/layout/process2"/>
    <dgm:cxn modelId="{8D1847A0-EBA3-4617-9DCB-0AB9086B80E3}" type="presParOf" srcId="{92BDC470-F6D7-415F-828E-BDFEAC7D1F92}" destId="{EDD924BC-5D7B-4CD1-80F2-026DCA65BD32}" srcOrd="0" destOrd="0" presId="urn:microsoft.com/office/officeart/2005/8/layout/process2"/>
    <dgm:cxn modelId="{EEA625A5-BCF1-4AC5-A19B-2C7AB97415E5}" type="presParOf" srcId="{6DEAEE0C-4CE4-457B-87FC-9CEB0865B4C1}" destId="{24E0FB7D-B6CD-42C0-B54C-57BE9261682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D9E46C-54C6-484A-B1DF-CDADD889ACF9}" type="doc">
      <dgm:prSet loTypeId="urn:microsoft.com/office/officeart/2005/8/layout/process2" loCatId="process" qsTypeId="urn:microsoft.com/office/officeart/2005/8/quickstyle/simple1#3" qsCatId="simple" csTypeId="urn:microsoft.com/office/officeart/2005/8/colors/accent1_2#3" csCatId="accent1" phldr="1"/>
      <dgm:spPr/>
    </dgm:pt>
    <dgm:pt modelId="{3AF2720C-82B8-46E4-A787-95CC451E6599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Prompt</a:t>
          </a:r>
        </a:p>
      </dgm:t>
    </dgm:pt>
    <dgm:pt modelId="{A7E79384-9BC5-49E4-90A3-BB00F91CC8F7}" type="parTrans" cxnId="{BA321F63-E2E8-4C68-857E-C2A2B8B1E9C0}">
      <dgm:prSet/>
      <dgm:spPr/>
      <dgm:t>
        <a:bodyPr/>
        <a:lstStyle/>
        <a:p>
          <a:endParaRPr lang="en-IN"/>
        </a:p>
      </dgm:t>
    </dgm:pt>
    <dgm:pt modelId="{550B057E-C4BE-41AF-996F-1FAA2FFCD012}" type="sibTrans" cxnId="{BA321F63-E2E8-4C68-857E-C2A2B8B1E9C0}">
      <dgm:prSet/>
      <dgm:spPr/>
      <dgm:t>
        <a:bodyPr/>
        <a:lstStyle/>
        <a:p>
          <a:endParaRPr lang="en-IN"/>
        </a:p>
      </dgm:t>
    </dgm:pt>
    <dgm:pt modelId="{B9820CF5-656F-4E9F-BCD2-8CBE47AA526C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AI Model</a:t>
          </a:r>
        </a:p>
      </dgm:t>
    </dgm:pt>
    <dgm:pt modelId="{099BC57F-CFF9-4AB0-BF86-6764EA54A776}" type="parTrans" cxnId="{35434EF2-18A7-466A-8047-C76C52A59929}">
      <dgm:prSet/>
      <dgm:spPr/>
      <dgm:t>
        <a:bodyPr/>
        <a:lstStyle/>
        <a:p>
          <a:endParaRPr lang="en-IN"/>
        </a:p>
      </dgm:t>
    </dgm:pt>
    <dgm:pt modelId="{93F00CC9-BEBC-4661-AF04-FCD7D9650477}" type="sibTrans" cxnId="{35434EF2-18A7-466A-8047-C76C52A59929}">
      <dgm:prSet/>
      <dgm:spPr/>
      <dgm:t>
        <a:bodyPr/>
        <a:lstStyle/>
        <a:p>
          <a:endParaRPr lang="en-IN"/>
        </a:p>
      </dgm:t>
    </dgm:pt>
    <dgm:pt modelId="{5721A266-057D-4667-9E87-FC80DC39FB14}">
      <dgm:prSet phldrT="[Text]" custT="1"/>
      <dgm:spPr/>
      <dgm:t>
        <a:bodyPr/>
        <a:lstStyle/>
        <a:p>
          <a:pPr>
            <a:buNone/>
          </a:pPr>
          <a:r>
            <a:rPr lang="en-IN" sz="2000" dirty="0"/>
            <a:t>New Content (Text, Code, Image)</a:t>
          </a:r>
        </a:p>
      </dgm:t>
    </dgm:pt>
    <dgm:pt modelId="{907885E5-287D-4DF9-80CB-8D55D04449F1}" type="parTrans" cxnId="{D05CD6BB-AE8D-407E-A98E-A5B0E104BD0E}">
      <dgm:prSet/>
      <dgm:spPr/>
      <dgm:t>
        <a:bodyPr/>
        <a:lstStyle/>
        <a:p>
          <a:endParaRPr lang="en-IN"/>
        </a:p>
      </dgm:t>
    </dgm:pt>
    <dgm:pt modelId="{EE0299A9-6648-473E-A107-9B394B8F4350}" type="sibTrans" cxnId="{D05CD6BB-AE8D-407E-A98E-A5B0E104BD0E}">
      <dgm:prSet/>
      <dgm:spPr/>
      <dgm:t>
        <a:bodyPr/>
        <a:lstStyle/>
        <a:p>
          <a:endParaRPr lang="en-IN"/>
        </a:p>
      </dgm:t>
    </dgm:pt>
    <dgm:pt modelId="{6DEAEE0C-4CE4-457B-87FC-9CEB0865B4C1}" type="pres">
      <dgm:prSet presAssocID="{51D9E46C-54C6-484A-B1DF-CDADD889ACF9}" presName="linearFlow" presStyleCnt="0">
        <dgm:presLayoutVars>
          <dgm:resizeHandles val="exact"/>
        </dgm:presLayoutVars>
      </dgm:prSet>
      <dgm:spPr/>
    </dgm:pt>
    <dgm:pt modelId="{29FE9247-E86A-4849-BA5E-E30053E253AF}" type="pres">
      <dgm:prSet presAssocID="{3AF2720C-82B8-46E4-A787-95CC451E6599}" presName="node" presStyleLbl="node1" presStyleIdx="0" presStyleCnt="3">
        <dgm:presLayoutVars>
          <dgm:bulletEnabled val="1"/>
        </dgm:presLayoutVars>
      </dgm:prSet>
      <dgm:spPr/>
    </dgm:pt>
    <dgm:pt modelId="{E8AB70E0-9CE4-4533-924D-4C92615C6A65}" type="pres">
      <dgm:prSet presAssocID="{550B057E-C4BE-41AF-996F-1FAA2FFCD012}" presName="sibTrans" presStyleLbl="sibTrans2D1" presStyleIdx="0" presStyleCnt="2"/>
      <dgm:spPr/>
    </dgm:pt>
    <dgm:pt modelId="{C7F5BB8C-5E86-4847-8C42-B84F3C867427}" type="pres">
      <dgm:prSet presAssocID="{550B057E-C4BE-41AF-996F-1FAA2FFCD012}" presName="connectorText" presStyleLbl="sibTrans2D1" presStyleIdx="0" presStyleCnt="2"/>
      <dgm:spPr/>
    </dgm:pt>
    <dgm:pt modelId="{98FF3527-EB21-4D84-A1FF-DE27D087C9C9}" type="pres">
      <dgm:prSet presAssocID="{B9820CF5-656F-4E9F-BCD2-8CBE47AA526C}" presName="node" presStyleLbl="node1" presStyleIdx="1" presStyleCnt="3">
        <dgm:presLayoutVars>
          <dgm:bulletEnabled val="1"/>
        </dgm:presLayoutVars>
      </dgm:prSet>
      <dgm:spPr/>
    </dgm:pt>
    <dgm:pt modelId="{8561DEA2-4E60-42BB-BFB2-D33D2C715D4F}" type="pres">
      <dgm:prSet presAssocID="{93F00CC9-BEBC-4661-AF04-FCD7D9650477}" presName="sibTrans" presStyleLbl="sibTrans2D1" presStyleIdx="1" presStyleCnt="2"/>
      <dgm:spPr/>
    </dgm:pt>
    <dgm:pt modelId="{174A4798-0F3E-45EC-8F0C-22E28160EDD0}" type="pres">
      <dgm:prSet presAssocID="{93F00CC9-BEBC-4661-AF04-FCD7D9650477}" presName="connectorText" presStyleLbl="sibTrans2D1" presStyleIdx="1" presStyleCnt="2"/>
      <dgm:spPr/>
    </dgm:pt>
    <dgm:pt modelId="{AC47423B-04AA-46DD-925B-2AE09B9FA0DC}" type="pres">
      <dgm:prSet presAssocID="{5721A266-057D-4667-9E87-FC80DC39FB14}" presName="node" presStyleLbl="node1" presStyleIdx="2" presStyleCnt="3" custScaleX="129765" custScaleY="237637">
        <dgm:presLayoutVars>
          <dgm:bulletEnabled val="1"/>
        </dgm:presLayoutVars>
      </dgm:prSet>
      <dgm:spPr/>
    </dgm:pt>
  </dgm:ptLst>
  <dgm:cxnLst>
    <dgm:cxn modelId="{9C618E2F-CBAD-49F0-948E-B9E32093080E}" type="presOf" srcId="{51D9E46C-54C6-484A-B1DF-CDADD889ACF9}" destId="{6DEAEE0C-4CE4-457B-87FC-9CEB0865B4C1}" srcOrd="0" destOrd="0" presId="urn:microsoft.com/office/officeart/2005/8/layout/process2"/>
    <dgm:cxn modelId="{BA321F63-E2E8-4C68-857E-C2A2B8B1E9C0}" srcId="{51D9E46C-54C6-484A-B1DF-CDADD889ACF9}" destId="{3AF2720C-82B8-46E4-A787-95CC451E6599}" srcOrd="0" destOrd="0" parTransId="{A7E79384-9BC5-49E4-90A3-BB00F91CC8F7}" sibTransId="{550B057E-C4BE-41AF-996F-1FAA2FFCD012}"/>
    <dgm:cxn modelId="{7F000A4A-0E24-485D-801D-48DE09406EC0}" type="presOf" srcId="{93F00CC9-BEBC-4661-AF04-FCD7D9650477}" destId="{8561DEA2-4E60-42BB-BFB2-D33D2C715D4F}" srcOrd="0" destOrd="0" presId="urn:microsoft.com/office/officeart/2005/8/layout/process2"/>
    <dgm:cxn modelId="{D05CD6BB-AE8D-407E-A98E-A5B0E104BD0E}" srcId="{51D9E46C-54C6-484A-B1DF-CDADD889ACF9}" destId="{5721A266-057D-4667-9E87-FC80DC39FB14}" srcOrd="2" destOrd="0" parTransId="{907885E5-287D-4DF9-80CB-8D55D04449F1}" sibTransId="{EE0299A9-6648-473E-A107-9B394B8F4350}"/>
    <dgm:cxn modelId="{684DBFBE-6D57-414F-B222-512112B16739}" type="presOf" srcId="{550B057E-C4BE-41AF-996F-1FAA2FFCD012}" destId="{C7F5BB8C-5E86-4847-8C42-B84F3C867427}" srcOrd="1" destOrd="0" presId="urn:microsoft.com/office/officeart/2005/8/layout/process2"/>
    <dgm:cxn modelId="{07371DC0-1A0D-4FF5-A772-F0A8FBA66DAB}" type="presOf" srcId="{550B057E-C4BE-41AF-996F-1FAA2FFCD012}" destId="{E8AB70E0-9CE4-4533-924D-4C92615C6A65}" srcOrd="0" destOrd="0" presId="urn:microsoft.com/office/officeart/2005/8/layout/process2"/>
    <dgm:cxn modelId="{B3C622E9-3D7E-4EDB-9F41-2C16EC1E9354}" type="presOf" srcId="{3AF2720C-82B8-46E4-A787-95CC451E6599}" destId="{29FE9247-E86A-4849-BA5E-E30053E253AF}" srcOrd="0" destOrd="0" presId="urn:microsoft.com/office/officeart/2005/8/layout/process2"/>
    <dgm:cxn modelId="{5607F1ED-4650-45D0-9D96-33ACC5B42794}" type="presOf" srcId="{93F00CC9-BEBC-4661-AF04-FCD7D9650477}" destId="{174A4798-0F3E-45EC-8F0C-22E28160EDD0}" srcOrd="1" destOrd="0" presId="urn:microsoft.com/office/officeart/2005/8/layout/process2"/>
    <dgm:cxn modelId="{35434EF2-18A7-466A-8047-C76C52A59929}" srcId="{51D9E46C-54C6-484A-B1DF-CDADD889ACF9}" destId="{B9820CF5-656F-4E9F-BCD2-8CBE47AA526C}" srcOrd="1" destOrd="0" parTransId="{099BC57F-CFF9-4AB0-BF86-6764EA54A776}" sibTransId="{93F00CC9-BEBC-4661-AF04-FCD7D9650477}"/>
    <dgm:cxn modelId="{090A79F4-FFFC-4689-937F-6D3BCD2CD211}" type="presOf" srcId="{5721A266-057D-4667-9E87-FC80DC39FB14}" destId="{AC47423B-04AA-46DD-925B-2AE09B9FA0DC}" srcOrd="0" destOrd="0" presId="urn:microsoft.com/office/officeart/2005/8/layout/process2"/>
    <dgm:cxn modelId="{58D114F6-7789-4ECD-84AC-56C1C308A237}" type="presOf" srcId="{B9820CF5-656F-4E9F-BCD2-8CBE47AA526C}" destId="{98FF3527-EB21-4D84-A1FF-DE27D087C9C9}" srcOrd="0" destOrd="0" presId="urn:microsoft.com/office/officeart/2005/8/layout/process2"/>
    <dgm:cxn modelId="{D1C51D9D-EC43-4CD9-919F-2894F053155B}" type="presParOf" srcId="{6DEAEE0C-4CE4-457B-87FC-9CEB0865B4C1}" destId="{29FE9247-E86A-4849-BA5E-E30053E253AF}" srcOrd="0" destOrd="0" presId="urn:microsoft.com/office/officeart/2005/8/layout/process2"/>
    <dgm:cxn modelId="{2C2E62E9-55C0-49A4-BFB3-40F479C23525}" type="presParOf" srcId="{6DEAEE0C-4CE4-457B-87FC-9CEB0865B4C1}" destId="{E8AB70E0-9CE4-4533-924D-4C92615C6A65}" srcOrd="1" destOrd="0" presId="urn:microsoft.com/office/officeart/2005/8/layout/process2"/>
    <dgm:cxn modelId="{1CE50DCD-C935-4CC6-8AA1-CD62948CCAE8}" type="presParOf" srcId="{E8AB70E0-9CE4-4533-924D-4C92615C6A65}" destId="{C7F5BB8C-5E86-4847-8C42-B84F3C867427}" srcOrd="0" destOrd="0" presId="urn:microsoft.com/office/officeart/2005/8/layout/process2"/>
    <dgm:cxn modelId="{665572CA-C5D6-4A3F-B702-46935DE3AA07}" type="presParOf" srcId="{6DEAEE0C-4CE4-457B-87FC-9CEB0865B4C1}" destId="{98FF3527-EB21-4D84-A1FF-DE27D087C9C9}" srcOrd="2" destOrd="0" presId="urn:microsoft.com/office/officeart/2005/8/layout/process2"/>
    <dgm:cxn modelId="{24B365DD-D384-44BA-B5FE-337AB487B024}" type="presParOf" srcId="{6DEAEE0C-4CE4-457B-87FC-9CEB0865B4C1}" destId="{8561DEA2-4E60-42BB-BFB2-D33D2C715D4F}" srcOrd="3" destOrd="0" presId="urn:microsoft.com/office/officeart/2005/8/layout/process2"/>
    <dgm:cxn modelId="{E01FB5D3-FB25-4645-AE98-93163AFDF906}" type="presParOf" srcId="{8561DEA2-4E60-42BB-BFB2-D33D2C715D4F}" destId="{174A4798-0F3E-45EC-8F0C-22E28160EDD0}" srcOrd="0" destOrd="0" presId="urn:microsoft.com/office/officeart/2005/8/layout/process2"/>
    <dgm:cxn modelId="{B95A9878-64BE-4A11-B494-2E1BF37DD8EF}" type="presParOf" srcId="{6DEAEE0C-4CE4-457B-87FC-9CEB0865B4C1}" destId="{AC47423B-04AA-46DD-925B-2AE09B9FA0DC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7DD0BF-D496-4309-B4A0-D2CD65345B27}" type="doc">
      <dgm:prSet loTypeId="urn:microsoft.com/office/officeart/2005/8/layout/process2" loCatId="process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3DBD9095-A7F9-4FE5-A771-0888005FBE94}">
      <dgm:prSet phldrT="[Text]"/>
      <dgm:spPr/>
      <dgm:t>
        <a:bodyPr/>
        <a:lstStyle/>
        <a:p>
          <a:r>
            <a:rPr lang="en-IN" dirty="0"/>
            <a:t>User Prompt</a:t>
          </a:r>
        </a:p>
      </dgm:t>
    </dgm:pt>
    <dgm:pt modelId="{94D66480-C0EA-4916-B6A4-BBC96D72D5CC}" type="parTrans" cxnId="{1040B275-8879-4F7D-A6D7-E5797B523ADA}">
      <dgm:prSet/>
      <dgm:spPr/>
      <dgm:t>
        <a:bodyPr/>
        <a:lstStyle/>
        <a:p>
          <a:endParaRPr lang="en-IN"/>
        </a:p>
      </dgm:t>
    </dgm:pt>
    <dgm:pt modelId="{C520D06C-E1CE-4AB4-8BFD-AF8DC88AB4B0}" type="sibTrans" cxnId="{1040B275-8879-4F7D-A6D7-E5797B523ADA}">
      <dgm:prSet/>
      <dgm:spPr/>
      <dgm:t>
        <a:bodyPr/>
        <a:lstStyle/>
        <a:p>
          <a:endParaRPr lang="en-IN"/>
        </a:p>
      </dgm:t>
    </dgm:pt>
    <dgm:pt modelId="{E8887279-B95E-43DF-92B9-BE3B7C174B93}">
      <dgm:prSet phldrT="[Text]"/>
      <dgm:spPr/>
      <dgm:t>
        <a:bodyPr/>
        <a:lstStyle/>
        <a:p>
          <a:r>
            <a:rPr lang="en-IN"/>
            <a:t> LLM Reads the Prompt</a:t>
          </a:r>
        </a:p>
      </dgm:t>
    </dgm:pt>
    <dgm:pt modelId="{A28D6AED-606B-41F9-A9E6-F9582A6B8FAE}" type="parTrans" cxnId="{3058A06B-CC6A-4143-8DF3-846BF6CBA276}">
      <dgm:prSet/>
      <dgm:spPr/>
      <dgm:t>
        <a:bodyPr/>
        <a:lstStyle/>
        <a:p>
          <a:endParaRPr lang="en-IN"/>
        </a:p>
      </dgm:t>
    </dgm:pt>
    <dgm:pt modelId="{1DC373E7-E8D0-4DE6-99E5-D46ED56A26F9}" type="sibTrans" cxnId="{3058A06B-CC6A-4143-8DF3-846BF6CBA276}">
      <dgm:prSet/>
      <dgm:spPr/>
      <dgm:t>
        <a:bodyPr/>
        <a:lstStyle/>
        <a:p>
          <a:endParaRPr lang="en-IN"/>
        </a:p>
      </dgm:t>
    </dgm:pt>
    <dgm:pt modelId="{7F3B6714-CA1B-4279-A466-871F9D30CFC4}">
      <dgm:prSet phldrT="[Text]"/>
      <dgm:spPr/>
      <dgm:t>
        <a:bodyPr/>
        <a:lstStyle/>
        <a:p>
          <a:r>
            <a:rPr lang="en-IN"/>
            <a:t> </a:t>
          </a:r>
          <a:r>
            <a:rPr lang="en-US"/>
            <a:t>Finds Patterns Learned During Training</a:t>
          </a:r>
          <a:endParaRPr lang="en-IN"/>
        </a:p>
      </dgm:t>
    </dgm:pt>
    <dgm:pt modelId="{719BFB4A-A710-413D-97A0-C7FAAB6272BC}" type="parTrans" cxnId="{98A20CAB-8671-4FF4-9BB2-2490E479E1D5}">
      <dgm:prSet/>
      <dgm:spPr/>
      <dgm:t>
        <a:bodyPr/>
        <a:lstStyle/>
        <a:p>
          <a:endParaRPr lang="en-IN"/>
        </a:p>
      </dgm:t>
    </dgm:pt>
    <dgm:pt modelId="{1AADFA1F-0DD9-4397-A418-44ED91EACF1D}" type="sibTrans" cxnId="{98A20CAB-8671-4FF4-9BB2-2490E479E1D5}">
      <dgm:prSet/>
      <dgm:spPr/>
      <dgm:t>
        <a:bodyPr/>
        <a:lstStyle/>
        <a:p>
          <a:endParaRPr lang="en-IN"/>
        </a:p>
      </dgm:t>
    </dgm:pt>
    <dgm:pt modelId="{169A1D53-A9C6-403E-B63E-BCCF691ADC72}">
      <dgm:prSet phldrT="[Text]"/>
      <dgm:spPr/>
      <dgm:t>
        <a:bodyPr/>
        <a:lstStyle/>
        <a:p>
          <a:r>
            <a:rPr lang="en-US"/>
            <a:t>Generates the Best Possible Response</a:t>
          </a:r>
          <a:endParaRPr lang="en-IN"/>
        </a:p>
      </dgm:t>
    </dgm:pt>
    <dgm:pt modelId="{4F32E0CE-01D8-4F30-9BEE-7440EB43C949}" type="parTrans" cxnId="{CE0017A0-AFB0-4E57-A6C2-97728950A089}">
      <dgm:prSet/>
      <dgm:spPr/>
      <dgm:t>
        <a:bodyPr/>
        <a:lstStyle/>
        <a:p>
          <a:endParaRPr lang="en-IN"/>
        </a:p>
      </dgm:t>
    </dgm:pt>
    <dgm:pt modelId="{8D94F176-9145-4513-A9AA-5287DB80C367}" type="sibTrans" cxnId="{CE0017A0-AFB0-4E57-A6C2-97728950A089}">
      <dgm:prSet/>
      <dgm:spPr/>
      <dgm:t>
        <a:bodyPr/>
        <a:lstStyle/>
        <a:p>
          <a:endParaRPr lang="en-IN"/>
        </a:p>
      </dgm:t>
    </dgm:pt>
    <dgm:pt modelId="{AD327CC7-84A5-43A9-A83D-7FD6D6E05FBC}">
      <dgm:prSet phldrT="[Text]"/>
      <dgm:spPr/>
      <dgm:t>
        <a:bodyPr/>
        <a:lstStyle/>
        <a:p>
          <a:r>
            <a:rPr lang="en-IN"/>
            <a:t> </a:t>
          </a:r>
          <a:r>
            <a:rPr lang="en-US"/>
            <a:t>User Reviews and Uses the Output</a:t>
          </a:r>
          <a:endParaRPr lang="en-IN"/>
        </a:p>
      </dgm:t>
    </dgm:pt>
    <dgm:pt modelId="{C7B9E024-8335-426E-B06F-3BBE3A542EDD}" type="parTrans" cxnId="{1BDDEB8D-C719-44DA-A768-36B91936F173}">
      <dgm:prSet/>
      <dgm:spPr/>
      <dgm:t>
        <a:bodyPr/>
        <a:lstStyle/>
        <a:p>
          <a:endParaRPr lang="en-IN"/>
        </a:p>
      </dgm:t>
    </dgm:pt>
    <dgm:pt modelId="{4D1E93A3-9FD0-46BC-8FC4-24ED7C67BB73}" type="sibTrans" cxnId="{1BDDEB8D-C719-44DA-A768-36B91936F173}">
      <dgm:prSet/>
      <dgm:spPr/>
      <dgm:t>
        <a:bodyPr/>
        <a:lstStyle/>
        <a:p>
          <a:endParaRPr lang="en-IN"/>
        </a:p>
      </dgm:t>
    </dgm:pt>
    <dgm:pt modelId="{4EBBBB21-FD37-4DDC-92F6-967D4FDFAAE9}" type="pres">
      <dgm:prSet presAssocID="{907DD0BF-D496-4309-B4A0-D2CD65345B27}" presName="linearFlow" presStyleCnt="0">
        <dgm:presLayoutVars>
          <dgm:resizeHandles val="exact"/>
        </dgm:presLayoutVars>
      </dgm:prSet>
      <dgm:spPr/>
    </dgm:pt>
    <dgm:pt modelId="{96C2B2D8-E530-4403-864D-F8C948B85F49}" type="pres">
      <dgm:prSet presAssocID="{3DBD9095-A7F9-4FE5-A771-0888005FBE94}" presName="node" presStyleLbl="node1" presStyleIdx="0" presStyleCnt="5">
        <dgm:presLayoutVars>
          <dgm:bulletEnabled val="1"/>
        </dgm:presLayoutVars>
      </dgm:prSet>
      <dgm:spPr/>
    </dgm:pt>
    <dgm:pt modelId="{47427CC9-7674-4EC0-8155-A1F60A551B86}" type="pres">
      <dgm:prSet presAssocID="{C520D06C-E1CE-4AB4-8BFD-AF8DC88AB4B0}" presName="sibTrans" presStyleLbl="sibTrans2D1" presStyleIdx="0" presStyleCnt="4"/>
      <dgm:spPr/>
    </dgm:pt>
    <dgm:pt modelId="{82A52612-98E2-40DB-9157-4E0A5313D7ED}" type="pres">
      <dgm:prSet presAssocID="{C520D06C-E1CE-4AB4-8BFD-AF8DC88AB4B0}" presName="connectorText" presStyleLbl="sibTrans2D1" presStyleIdx="0" presStyleCnt="4"/>
      <dgm:spPr/>
    </dgm:pt>
    <dgm:pt modelId="{77BB1D95-79F0-4924-9B98-0CEF32950B86}" type="pres">
      <dgm:prSet presAssocID="{E8887279-B95E-43DF-92B9-BE3B7C174B93}" presName="node" presStyleLbl="node1" presStyleIdx="1" presStyleCnt="5">
        <dgm:presLayoutVars>
          <dgm:bulletEnabled val="1"/>
        </dgm:presLayoutVars>
      </dgm:prSet>
      <dgm:spPr/>
    </dgm:pt>
    <dgm:pt modelId="{C1003E5B-FC1B-45A8-AED0-0F52BE2D69D4}" type="pres">
      <dgm:prSet presAssocID="{1DC373E7-E8D0-4DE6-99E5-D46ED56A26F9}" presName="sibTrans" presStyleLbl="sibTrans2D1" presStyleIdx="1" presStyleCnt="4"/>
      <dgm:spPr/>
    </dgm:pt>
    <dgm:pt modelId="{1E19D986-EAF4-4D01-930B-91A3236A3CBF}" type="pres">
      <dgm:prSet presAssocID="{1DC373E7-E8D0-4DE6-99E5-D46ED56A26F9}" presName="connectorText" presStyleLbl="sibTrans2D1" presStyleIdx="1" presStyleCnt="4"/>
      <dgm:spPr/>
    </dgm:pt>
    <dgm:pt modelId="{FEB9CB7C-6831-4A52-8B86-87E587830DCA}" type="pres">
      <dgm:prSet presAssocID="{7F3B6714-CA1B-4279-A466-871F9D30CFC4}" presName="node" presStyleLbl="node1" presStyleIdx="2" presStyleCnt="5">
        <dgm:presLayoutVars>
          <dgm:bulletEnabled val="1"/>
        </dgm:presLayoutVars>
      </dgm:prSet>
      <dgm:spPr/>
    </dgm:pt>
    <dgm:pt modelId="{DE7D5EAE-4509-4003-97C5-1A4B88A94E95}" type="pres">
      <dgm:prSet presAssocID="{1AADFA1F-0DD9-4397-A418-44ED91EACF1D}" presName="sibTrans" presStyleLbl="sibTrans2D1" presStyleIdx="2" presStyleCnt="4"/>
      <dgm:spPr/>
    </dgm:pt>
    <dgm:pt modelId="{E663F701-745F-4036-988C-5A26D8F06EE7}" type="pres">
      <dgm:prSet presAssocID="{1AADFA1F-0DD9-4397-A418-44ED91EACF1D}" presName="connectorText" presStyleLbl="sibTrans2D1" presStyleIdx="2" presStyleCnt="4"/>
      <dgm:spPr/>
    </dgm:pt>
    <dgm:pt modelId="{D297FAFB-8BFF-4B98-9281-7CE485D8DC26}" type="pres">
      <dgm:prSet presAssocID="{169A1D53-A9C6-403E-B63E-BCCF691ADC72}" presName="node" presStyleLbl="node1" presStyleIdx="3" presStyleCnt="5">
        <dgm:presLayoutVars>
          <dgm:bulletEnabled val="1"/>
        </dgm:presLayoutVars>
      </dgm:prSet>
      <dgm:spPr/>
    </dgm:pt>
    <dgm:pt modelId="{4B50E630-6BA4-4F35-A728-19662204491A}" type="pres">
      <dgm:prSet presAssocID="{8D94F176-9145-4513-A9AA-5287DB80C367}" presName="sibTrans" presStyleLbl="sibTrans2D1" presStyleIdx="3" presStyleCnt="4"/>
      <dgm:spPr/>
    </dgm:pt>
    <dgm:pt modelId="{7D8975DD-15AC-4F7C-B88E-A0752F5E2A9D}" type="pres">
      <dgm:prSet presAssocID="{8D94F176-9145-4513-A9AA-5287DB80C367}" presName="connectorText" presStyleLbl="sibTrans2D1" presStyleIdx="3" presStyleCnt="4"/>
      <dgm:spPr/>
    </dgm:pt>
    <dgm:pt modelId="{69769628-A439-4E7D-8CB1-2697E18EE595}" type="pres">
      <dgm:prSet presAssocID="{AD327CC7-84A5-43A9-A83D-7FD6D6E05FBC}" presName="node" presStyleLbl="node1" presStyleIdx="4" presStyleCnt="5">
        <dgm:presLayoutVars>
          <dgm:bulletEnabled val="1"/>
        </dgm:presLayoutVars>
      </dgm:prSet>
      <dgm:spPr/>
    </dgm:pt>
  </dgm:ptLst>
  <dgm:cxnLst>
    <dgm:cxn modelId="{59271F12-D401-4017-8515-20468B7B46C3}" type="presOf" srcId="{1AADFA1F-0DD9-4397-A418-44ED91EACF1D}" destId="{DE7D5EAE-4509-4003-97C5-1A4B88A94E95}" srcOrd="0" destOrd="0" presId="urn:microsoft.com/office/officeart/2005/8/layout/process2"/>
    <dgm:cxn modelId="{4D411C2D-D793-486B-930C-70C45DABEB35}" type="presOf" srcId="{7F3B6714-CA1B-4279-A466-871F9D30CFC4}" destId="{FEB9CB7C-6831-4A52-8B86-87E587830DCA}" srcOrd="0" destOrd="0" presId="urn:microsoft.com/office/officeart/2005/8/layout/process2"/>
    <dgm:cxn modelId="{D959C540-F34C-43F3-8796-77F5CFCF7E96}" type="presOf" srcId="{C520D06C-E1CE-4AB4-8BFD-AF8DC88AB4B0}" destId="{47427CC9-7674-4EC0-8155-A1F60A551B86}" srcOrd="0" destOrd="0" presId="urn:microsoft.com/office/officeart/2005/8/layout/process2"/>
    <dgm:cxn modelId="{4DF68E67-3EF4-42AA-AEA7-F256FB821540}" type="presOf" srcId="{E8887279-B95E-43DF-92B9-BE3B7C174B93}" destId="{77BB1D95-79F0-4924-9B98-0CEF32950B86}" srcOrd="0" destOrd="0" presId="urn:microsoft.com/office/officeart/2005/8/layout/process2"/>
    <dgm:cxn modelId="{3058A06B-CC6A-4143-8DF3-846BF6CBA276}" srcId="{907DD0BF-D496-4309-B4A0-D2CD65345B27}" destId="{E8887279-B95E-43DF-92B9-BE3B7C174B93}" srcOrd="1" destOrd="0" parTransId="{A28D6AED-606B-41F9-A9E6-F9582A6B8FAE}" sibTransId="{1DC373E7-E8D0-4DE6-99E5-D46ED56A26F9}"/>
    <dgm:cxn modelId="{C7388E6F-7908-498D-B70D-3D7A162BC22A}" type="presOf" srcId="{8D94F176-9145-4513-A9AA-5287DB80C367}" destId="{4B50E630-6BA4-4F35-A728-19662204491A}" srcOrd="0" destOrd="0" presId="urn:microsoft.com/office/officeart/2005/8/layout/process2"/>
    <dgm:cxn modelId="{81C50570-22F0-466F-9081-AE3272D29490}" type="presOf" srcId="{1DC373E7-E8D0-4DE6-99E5-D46ED56A26F9}" destId="{1E19D986-EAF4-4D01-930B-91A3236A3CBF}" srcOrd="1" destOrd="0" presId="urn:microsoft.com/office/officeart/2005/8/layout/process2"/>
    <dgm:cxn modelId="{32756F70-3BB3-4859-9A90-69FB99F500CA}" type="presOf" srcId="{8D94F176-9145-4513-A9AA-5287DB80C367}" destId="{7D8975DD-15AC-4F7C-B88E-A0752F5E2A9D}" srcOrd="1" destOrd="0" presId="urn:microsoft.com/office/officeart/2005/8/layout/process2"/>
    <dgm:cxn modelId="{DA7A8650-1D50-4726-AF40-9840ADD10D2F}" type="presOf" srcId="{3DBD9095-A7F9-4FE5-A771-0888005FBE94}" destId="{96C2B2D8-E530-4403-864D-F8C948B85F49}" srcOrd="0" destOrd="0" presId="urn:microsoft.com/office/officeart/2005/8/layout/process2"/>
    <dgm:cxn modelId="{1040B275-8879-4F7D-A6D7-E5797B523ADA}" srcId="{907DD0BF-D496-4309-B4A0-D2CD65345B27}" destId="{3DBD9095-A7F9-4FE5-A771-0888005FBE94}" srcOrd="0" destOrd="0" parTransId="{94D66480-C0EA-4916-B6A4-BBC96D72D5CC}" sibTransId="{C520D06C-E1CE-4AB4-8BFD-AF8DC88AB4B0}"/>
    <dgm:cxn modelId="{4D853778-C97D-47F6-8CAB-2A4443DB9F6B}" type="presOf" srcId="{1DC373E7-E8D0-4DE6-99E5-D46ED56A26F9}" destId="{C1003E5B-FC1B-45A8-AED0-0F52BE2D69D4}" srcOrd="0" destOrd="0" presId="urn:microsoft.com/office/officeart/2005/8/layout/process2"/>
    <dgm:cxn modelId="{1F529D7E-BA48-47D9-99CA-BC652B821092}" type="presOf" srcId="{1AADFA1F-0DD9-4397-A418-44ED91EACF1D}" destId="{E663F701-745F-4036-988C-5A26D8F06EE7}" srcOrd="1" destOrd="0" presId="urn:microsoft.com/office/officeart/2005/8/layout/process2"/>
    <dgm:cxn modelId="{F5635A80-2747-4F70-BFE4-F36D5A4FDFA8}" type="presOf" srcId="{169A1D53-A9C6-403E-B63E-BCCF691ADC72}" destId="{D297FAFB-8BFF-4B98-9281-7CE485D8DC26}" srcOrd="0" destOrd="0" presId="urn:microsoft.com/office/officeart/2005/8/layout/process2"/>
    <dgm:cxn modelId="{1BDDEB8D-C719-44DA-A768-36B91936F173}" srcId="{907DD0BF-D496-4309-B4A0-D2CD65345B27}" destId="{AD327CC7-84A5-43A9-A83D-7FD6D6E05FBC}" srcOrd="4" destOrd="0" parTransId="{C7B9E024-8335-426E-B06F-3BBE3A542EDD}" sibTransId="{4D1E93A3-9FD0-46BC-8FC4-24ED7C67BB73}"/>
    <dgm:cxn modelId="{CE0017A0-AFB0-4E57-A6C2-97728950A089}" srcId="{907DD0BF-D496-4309-B4A0-D2CD65345B27}" destId="{169A1D53-A9C6-403E-B63E-BCCF691ADC72}" srcOrd="3" destOrd="0" parTransId="{4F32E0CE-01D8-4F30-9BEE-7440EB43C949}" sibTransId="{8D94F176-9145-4513-A9AA-5287DB80C367}"/>
    <dgm:cxn modelId="{01391CA2-490C-42E9-850C-71FF44899E8B}" type="presOf" srcId="{AD327CC7-84A5-43A9-A83D-7FD6D6E05FBC}" destId="{69769628-A439-4E7D-8CB1-2697E18EE595}" srcOrd="0" destOrd="0" presId="urn:microsoft.com/office/officeart/2005/8/layout/process2"/>
    <dgm:cxn modelId="{98A20CAB-8671-4FF4-9BB2-2490E479E1D5}" srcId="{907DD0BF-D496-4309-B4A0-D2CD65345B27}" destId="{7F3B6714-CA1B-4279-A466-871F9D30CFC4}" srcOrd="2" destOrd="0" parTransId="{719BFB4A-A710-413D-97A0-C7FAAB6272BC}" sibTransId="{1AADFA1F-0DD9-4397-A418-44ED91EACF1D}"/>
    <dgm:cxn modelId="{94DE9AD7-AAC2-4B51-8A18-37E3769A4B50}" type="presOf" srcId="{C520D06C-E1CE-4AB4-8BFD-AF8DC88AB4B0}" destId="{82A52612-98E2-40DB-9157-4E0A5313D7ED}" srcOrd="1" destOrd="0" presId="urn:microsoft.com/office/officeart/2005/8/layout/process2"/>
    <dgm:cxn modelId="{7C7EA6DD-AC81-4088-975B-FB98B3633CEA}" type="presOf" srcId="{907DD0BF-D496-4309-B4A0-D2CD65345B27}" destId="{4EBBBB21-FD37-4DDC-92F6-967D4FDFAAE9}" srcOrd="0" destOrd="0" presId="urn:microsoft.com/office/officeart/2005/8/layout/process2"/>
    <dgm:cxn modelId="{40E6E68F-DA13-4960-8E1E-63251DB67B80}" type="presParOf" srcId="{4EBBBB21-FD37-4DDC-92F6-967D4FDFAAE9}" destId="{96C2B2D8-E530-4403-864D-F8C948B85F49}" srcOrd="0" destOrd="0" presId="urn:microsoft.com/office/officeart/2005/8/layout/process2"/>
    <dgm:cxn modelId="{B50F3766-0552-4EAE-AC7B-E821932A807B}" type="presParOf" srcId="{4EBBBB21-FD37-4DDC-92F6-967D4FDFAAE9}" destId="{47427CC9-7674-4EC0-8155-A1F60A551B86}" srcOrd="1" destOrd="0" presId="urn:microsoft.com/office/officeart/2005/8/layout/process2"/>
    <dgm:cxn modelId="{9FFFE5C4-6CBB-4998-A6B5-742E4867ACC4}" type="presParOf" srcId="{47427CC9-7674-4EC0-8155-A1F60A551B86}" destId="{82A52612-98E2-40DB-9157-4E0A5313D7ED}" srcOrd="0" destOrd="0" presId="urn:microsoft.com/office/officeart/2005/8/layout/process2"/>
    <dgm:cxn modelId="{3D247503-3547-4488-8202-FB164F14264A}" type="presParOf" srcId="{4EBBBB21-FD37-4DDC-92F6-967D4FDFAAE9}" destId="{77BB1D95-79F0-4924-9B98-0CEF32950B86}" srcOrd="2" destOrd="0" presId="urn:microsoft.com/office/officeart/2005/8/layout/process2"/>
    <dgm:cxn modelId="{1B428F63-7613-4E41-B591-F391F95B9641}" type="presParOf" srcId="{4EBBBB21-FD37-4DDC-92F6-967D4FDFAAE9}" destId="{C1003E5B-FC1B-45A8-AED0-0F52BE2D69D4}" srcOrd="3" destOrd="0" presId="urn:microsoft.com/office/officeart/2005/8/layout/process2"/>
    <dgm:cxn modelId="{20716587-FC4C-4DEB-AD40-CE5BDA0B1814}" type="presParOf" srcId="{C1003E5B-FC1B-45A8-AED0-0F52BE2D69D4}" destId="{1E19D986-EAF4-4D01-930B-91A3236A3CBF}" srcOrd="0" destOrd="0" presId="urn:microsoft.com/office/officeart/2005/8/layout/process2"/>
    <dgm:cxn modelId="{ADB1682B-8925-4A3A-B850-F3B2E53AA832}" type="presParOf" srcId="{4EBBBB21-FD37-4DDC-92F6-967D4FDFAAE9}" destId="{FEB9CB7C-6831-4A52-8B86-87E587830DCA}" srcOrd="4" destOrd="0" presId="urn:microsoft.com/office/officeart/2005/8/layout/process2"/>
    <dgm:cxn modelId="{B2AE67BB-DC91-468F-AB7A-2C38016BEE68}" type="presParOf" srcId="{4EBBBB21-FD37-4DDC-92F6-967D4FDFAAE9}" destId="{DE7D5EAE-4509-4003-97C5-1A4B88A94E95}" srcOrd="5" destOrd="0" presId="urn:microsoft.com/office/officeart/2005/8/layout/process2"/>
    <dgm:cxn modelId="{BDB6A18B-016E-4130-9165-D3C3D9472C86}" type="presParOf" srcId="{DE7D5EAE-4509-4003-97C5-1A4B88A94E95}" destId="{E663F701-745F-4036-988C-5A26D8F06EE7}" srcOrd="0" destOrd="0" presId="urn:microsoft.com/office/officeart/2005/8/layout/process2"/>
    <dgm:cxn modelId="{F9F052D4-40EA-4D63-B629-93C777683194}" type="presParOf" srcId="{4EBBBB21-FD37-4DDC-92F6-967D4FDFAAE9}" destId="{D297FAFB-8BFF-4B98-9281-7CE485D8DC26}" srcOrd="6" destOrd="0" presId="urn:microsoft.com/office/officeart/2005/8/layout/process2"/>
    <dgm:cxn modelId="{37F78174-FCCA-425C-9317-2FD011817169}" type="presParOf" srcId="{4EBBBB21-FD37-4DDC-92F6-967D4FDFAAE9}" destId="{4B50E630-6BA4-4F35-A728-19662204491A}" srcOrd="7" destOrd="0" presId="urn:microsoft.com/office/officeart/2005/8/layout/process2"/>
    <dgm:cxn modelId="{832A9BC8-6B27-4914-B299-A7B4A1399987}" type="presParOf" srcId="{4B50E630-6BA4-4F35-A728-19662204491A}" destId="{7D8975DD-15AC-4F7C-B88E-A0752F5E2A9D}" srcOrd="0" destOrd="0" presId="urn:microsoft.com/office/officeart/2005/8/layout/process2"/>
    <dgm:cxn modelId="{5042AB61-C36A-4E5E-A66D-3DFC811E057D}" type="presParOf" srcId="{4EBBBB21-FD37-4DDC-92F6-967D4FDFAAE9}" destId="{69769628-A439-4E7D-8CB1-2697E18EE595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85C57-34E3-4654-9E9B-61336914B028}">
      <dsp:nvSpPr>
        <dsp:cNvPr id="0" name=""/>
        <dsp:cNvSpPr/>
      </dsp:nvSpPr>
      <dsp:spPr>
        <a:xfrm>
          <a:off x="1862206" y="1850"/>
          <a:ext cx="3448133" cy="20688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100" b="1" kern="1200" dirty="0"/>
            <a:t>Artificial Narrow Intelligence (ANI)</a:t>
          </a:r>
          <a:endParaRPr lang="en-IN" sz="210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100" kern="1200" dirty="0"/>
            <a:t>Designed for one specific task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100" kern="1200" dirty="0"/>
            <a:t>Example: ChatGPT, Google Maps, Siri </a:t>
          </a:r>
        </a:p>
      </dsp:txBody>
      <dsp:txXfrm>
        <a:off x="1862206" y="1850"/>
        <a:ext cx="3448133" cy="2068880"/>
      </dsp:txXfrm>
    </dsp:sp>
    <dsp:sp modelId="{74DE6495-3D69-4334-8B54-ED8614E43859}">
      <dsp:nvSpPr>
        <dsp:cNvPr id="0" name=""/>
        <dsp:cNvSpPr/>
      </dsp:nvSpPr>
      <dsp:spPr>
        <a:xfrm>
          <a:off x="5655153" y="1850"/>
          <a:ext cx="3448133" cy="20688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100" b="1" kern="1200" dirty="0"/>
            <a:t>Artificial General Intelligence (AGI)</a:t>
          </a:r>
          <a:endParaRPr lang="en-IN" sz="210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100" kern="1200" dirty="0"/>
            <a:t>Can perform any intellectual task like a human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100" kern="1200" dirty="0"/>
            <a:t>Still under research</a:t>
          </a:r>
        </a:p>
      </dsp:txBody>
      <dsp:txXfrm>
        <a:off x="5655153" y="1850"/>
        <a:ext cx="3448133" cy="2068880"/>
      </dsp:txXfrm>
    </dsp:sp>
    <dsp:sp modelId="{C5C3509A-17C2-4D1F-A85F-FE73A6C4DE40}">
      <dsp:nvSpPr>
        <dsp:cNvPr id="0" name=""/>
        <dsp:cNvSpPr/>
      </dsp:nvSpPr>
      <dsp:spPr>
        <a:xfrm>
          <a:off x="3758679" y="2415544"/>
          <a:ext cx="3448133" cy="20688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Artificial Super Intelligence (ASI)</a:t>
          </a:r>
          <a:endParaRPr lang="en-IN" sz="210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More intelligent than humans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 future concept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At the bottom, highlight:</a:t>
          </a:r>
        </a:p>
      </dsp:txBody>
      <dsp:txXfrm>
        <a:off x="3758679" y="2415544"/>
        <a:ext cx="3448133" cy="2068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E9247-E86A-4849-BA5E-E30053E253AF}">
      <dsp:nvSpPr>
        <dsp:cNvPr id="0" name=""/>
        <dsp:cNvSpPr/>
      </dsp:nvSpPr>
      <dsp:spPr>
        <a:xfrm>
          <a:off x="2328916" y="0"/>
          <a:ext cx="1314299" cy="532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Input Data</a:t>
          </a:r>
        </a:p>
      </dsp:txBody>
      <dsp:txXfrm>
        <a:off x="2344512" y="15596"/>
        <a:ext cx="1283107" cy="501308"/>
      </dsp:txXfrm>
    </dsp:sp>
    <dsp:sp modelId="{3B1B20C6-D0EA-49EB-B00C-BE4E64BE5540}">
      <dsp:nvSpPr>
        <dsp:cNvPr id="0" name=""/>
        <dsp:cNvSpPr/>
      </dsp:nvSpPr>
      <dsp:spPr>
        <a:xfrm rot="5400000">
          <a:off x="2886222" y="545813"/>
          <a:ext cx="199687" cy="2396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914178" y="565782"/>
        <a:ext cx="143775" cy="139781"/>
      </dsp:txXfrm>
    </dsp:sp>
    <dsp:sp modelId="{7B0E256E-F6C2-4306-9CE5-2166D6040ABE}">
      <dsp:nvSpPr>
        <dsp:cNvPr id="0" name=""/>
        <dsp:cNvSpPr/>
      </dsp:nvSpPr>
      <dsp:spPr>
        <a:xfrm>
          <a:off x="2328916" y="798751"/>
          <a:ext cx="1314299" cy="532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 Prediction</a:t>
          </a:r>
        </a:p>
      </dsp:txBody>
      <dsp:txXfrm>
        <a:off x="2344512" y="814347"/>
        <a:ext cx="1283107" cy="501308"/>
      </dsp:txXfrm>
    </dsp:sp>
    <dsp:sp modelId="{92BDC470-F6D7-415F-828E-BDFEAC7D1F92}">
      <dsp:nvSpPr>
        <dsp:cNvPr id="0" name=""/>
        <dsp:cNvSpPr/>
      </dsp:nvSpPr>
      <dsp:spPr>
        <a:xfrm rot="5400000">
          <a:off x="2886222" y="1344565"/>
          <a:ext cx="199687" cy="2396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914178" y="1364534"/>
        <a:ext cx="143775" cy="139781"/>
      </dsp:txXfrm>
    </dsp:sp>
    <dsp:sp modelId="{24E0FB7D-B6CD-42C0-B54C-57BE9261682F}">
      <dsp:nvSpPr>
        <dsp:cNvPr id="0" name=""/>
        <dsp:cNvSpPr/>
      </dsp:nvSpPr>
      <dsp:spPr>
        <a:xfrm>
          <a:off x="2328916" y="1597503"/>
          <a:ext cx="1314299" cy="532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 Output</a:t>
          </a:r>
        </a:p>
      </dsp:txBody>
      <dsp:txXfrm>
        <a:off x="2344512" y="1613099"/>
        <a:ext cx="1283107" cy="5013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E9247-E86A-4849-BA5E-E30053E253AF}">
      <dsp:nvSpPr>
        <dsp:cNvPr id="0" name=""/>
        <dsp:cNvSpPr/>
      </dsp:nvSpPr>
      <dsp:spPr>
        <a:xfrm>
          <a:off x="2195367" y="2230"/>
          <a:ext cx="1581396" cy="39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Prompt</a:t>
          </a:r>
        </a:p>
      </dsp:txBody>
      <dsp:txXfrm>
        <a:off x="2206946" y="13809"/>
        <a:ext cx="1558238" cy="372191"/>
      </dsp:txXfrm>
    </dsp:sp>
    <dsp:sp modelId="{E8AB70E0-9CE4-4533-924D-4C92615C6A65}">
      <dsp:nvSpPr>
        <dsp:cNvPr id="0" name=""/>
        <dsp:cNvSpPr/>
      </dsp:nvSpPr>
      <dsp:spPr>
        <a:xfrm rot="5400000">
          <a:off x="2911938" y="407463"/>
          <a:ext cx="148255" cy="1779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2932693" y="422289"/>
        <a:ext cx="106745" cy="103779"/>
      </dsp:txXfrm>
    </dsp:sp>
    <dsp:sp modelId="{98FF3527-EB21-4D84-A1FF-DE27D087C9C9}">
      <dsp:nvSpPr>
        <dsp:cNvPr id="0" name=""/>
        <dsp:cNvSpPr/>
      </dsp:nvSpPr>
      <dsp:spPr>
        <a:xfrm>
          <a:off x="2195367" y="595254"/>
          <a:ext cx="1581396" cy="39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AI Model</a:t>
          </a:r>
        </a:p>
      </dsp:txBody>
      <dsp:txXfrm>
        <a:off x="2206946" y="606833"/>
        <a:ext cx="1558238" cy="372191"/>
      </dsp:txXfrm>
    </dsp:sp>
    <dsp:sp modelId="{8561DEA2-4E60-42BB-BFB2-D33D2C715D4F}">
      <dsp:nvSpPr>
        <dsp:cNvPr id="0" name=""/>
        <dsp:cNvSpPr/>
      </dsp:nvSpPr>
      <dsp:spPr>
        <a:xfrm rot="5400000">
          <a:off x="2911938" y="1000486"/>
          <a:ext cx="148255" cy="1779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2932693" y="1015312"/>
        <a:ext cx="106745" cy="103779"/>
      </dsp:txXfrm>
    </dsp:sp>
    <dsp:sp modelId="{AC47423B-04AA-46DD-925B-2AE09B9FA0DC}">
      <dsp:nvSpPr>
        <dsp:cNvPr id="0" name=""/>
        <dsp:cNvSpPr/>
      </dsp:nvSpPr>
      <dsp:spPr>
        <a:xfrm>
          <a:off x="1960016" y="1188277"/>
          <a:ext cx="2052099" cy="939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New Content (Text, Code, Image)</a:t>
          </a:r>
        </a:p>
      </dsp:txBody>
      <dsp:txXfrm>
        <a:off x="1987533" y="1215794"/>
        <a:ext cx="1997065" cy="8844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2B2D8-E530-4403-864D-F8C948B85F49}">
      <dsp:nvSpPr>
        <dsp:cNvPr id="0" name=""/>
        <dsp:cNvSpPr/>
      </dsp:nvSpPr>
      <dsp:spPr>
        <a:xfrm>
          <a:off x="2888629" y="661"/>
          <a:ext cx="2350740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User Prompt</a:t>
          </a:r>
        </a:p>
      </dsp:txBody>
      <dsp:txXfrm>
        <a:off x="2911296" y="23328"/>
        <a:ext cx="2305406" cy="728572"/>
      </dsp:txXfrm>
    </dsp:sp>
    <dsp:sp modelId="{47427CC9-7674-4EC0-8155-A1F60A551B86}">
      <dsp:nvSpPr>
        <dsp:cNvPr id="0" name=""/>
        <dsp:cNvSpPr/>
      </dsp:nvSpPr>
      <dsp:spPr>
        <a:xfrm rot="5400000">
          <a:off x="3918892" y="793915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3959522" y="822936"/>
        <a:ext cx="208955" cy="203150"/>
      </dsp:txXfrm>
    </dsp:sp>
    <dsp:sp modelId="{77BB1D95-79F0-4924-9B98-0CEF32950B86}">
      <dsp:nvSpPr>
        <dsp:cNvPr id="0" name=""/>
        <dsp:cNvSpPr/>
      </dsp:nvSpPr>
      <dsp:spPr>
        <a:xfrm>
          <a:off x="2888629" y="1161520"/>
          <a:ext cx="2350740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 LLM Reads the Prompt</a:t>
          </a:r>
        </a:p>
      </dsp:txBody>
      <dsp:txXfrm>
        <a:off x="2911296" y="1184187"/>
        <a:ext cx="2305406" cy="728572"/>
      </dsp:txXfrm>
    </dsp:sp>
    <dsp:sp modelId="{C1003E5B-FC1B-45A8-AED0-0F52BE2D69D4}">
      <dsp:nvSpPr>
        <dsp:cNvPr id="0" name=""/>
        <dsp:cNvSpPr/>
      </dsp:nvSpPr>
      <dsp:spPr>
        <a:xfrm rot="5400000">
          <a:off x="3918892" y="195477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3959522" y="1983795"/>
        <a:ext cx="208955" cy="203150"/>
      </dsp:txXfrm>
    </dsp:sp>
    <dsp:sp modelId="{FEB9CB7C-6831-4A52-8B86-87E587830DCA}">
      <dsp:nvSpPr>
        <dsp:cNvPr id="0" name=""/>
        <dsp:cNvSpPr/>
      </dsp:nvSpPr>
      <dsp:spPr>
        <a:xfrm>
          <a:off x="2888629" y="2322380"/>
          <a:ext cx="2350740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 </a:t>
          </a:r>
          <a:r>
            <a:rPr lang="en-US" sz="1800" kern="1200"/>
            <a:t>Finds Patterns Learned During Training</a:t>
          </a:r>
          <a:endParaRPr lang="en-IN" sz="1800" kern="1200"/>
        </a:p>
      </dsp:txBody>
      <dsp:txXfrm>
        <a:off x="2911296" y="2345047"/>
        <a:ext cx="2305406" cy="728572"/>
      </dsp:txXfrm>
    </dsp:sp>
    <dsp:sp modelId="{DE7D5EAE-4509-4003-97C5-1A4B88A94E95}">
      <dsp:nvSpPr>
        <dsp:cNvPr id="0" name=""/>
        <dsp:cNvSpPr/>
      </dsp:nvSpPr>
      <dsp:spPr>
        <a:xfrm rot="5400000">
          <a:off x="3918892" y="3115634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3959522" y="3144655"/>
        <a:ext cx="208955" cy="203150"/>
      </dsp:txXfrm>
    </dsp:sp>
    <dsp:sp modelId="{D297FAFB-8BFF-4B98-9281-7CE485D8DC26}">
      <dsp:nvSpPr>
        <dsp:cNvPr id="0" name=""/>
        <dsp:cNvSpPr/>
      </dsp:nvSpPr>
      <dsp:spPr>
        <a:xfrm>
          <a:off x="2888629" y="3483239"/>
          <a:ext cx="2350740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Generates the Best Possible Response</a:t>
          </a:r>
          <a:endParaRPr lang="en-IN" sz="1800" kern="1200"/>
        </a:p>
      </dsp:txBody>
      <dsp:txXfrm>
        <a:off x="2911296" y="3505906"/>
        <a:ext cx="2305406" cy="728572"/>
      </dsp:txXfrm>
    </dsp:sp>
    <dsp:sp modelId="{4B50E630-6BA4-4F35-A728-19662204491A}">
      <dsp:nvSpPr>
        <dsp:cNvPr id="0" name=""/>
        <dsp:cNvSpPr/>
      </dsp:nvSpPr>
      <dsp:spPr>
        <a:xfrm rot="5400000">
          <a:off x="3918892" y="4276493"/>
          <a:ext cx="290214" cy="3482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-5400000">
        <a:off x="3959522" y="4305514"/>
        <a:ext cx="208955" cy="203150"/>
      </dsp:txXfrm>
    </dsp:sp>
    <dsp:sp modelId="{69769628-A439-4E7D-8CB1-2697E18EE595}">
      <dsp:nvSpPr>
        <dsp:cNvPr id="0" name=""/>
        <dsp:cNvSpPr/>
      </dsp:nvSpPr>
      <dsp:spPr>
        <a:xfrm>
          <a:off x="2888629" y="4644099"/>
          <a:ext cx="2350740" cy="773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 </a:t>
          </a:r>
          <a:r>
            <a:rPr lang="en-US" sz="1800" kern="1200"/>
            <a:t>User Reviews and Uses the Output</a:t>
          </a:r>
          <a:endParaRPr lang="en-IN" sz="1800" kern="1200"/>
        </a:p>
      </dsp:txBody>
      <dsp:txXfrm>
        <a:off x="2911296" y="4666766"/>
        <a:ext cx="2305406" cy="728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D9424-8A8C-433C-9FDF-F2FD14B0580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D17D6-715C-4A46-AAB1-1034205356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94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076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822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22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665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812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65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096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93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8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143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955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385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37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546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975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73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77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376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Answer:</a:t>
            </a:r>
            <a:r>
              <a:rPr lang="en-IN" dirty="0"/>
              <a:t> </a:t>
            </a:r>
            <a:r>
              <a:rPr lang="en-IN" b="1" dirty="0"/>
              <a:t>B. To create new content such as text, code, and images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332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Answer:</a:t>
            </a:r>
            <a:r>
              <a:rPr lang="en-IN" dirty="0"/>
              <a:t> </a:t>
            </a:r>
            <a:r>
              <a:rPr lang="en-IN" b="1" dirty="0"/>
              <a:t>B. GPT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025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 </a:t>
            </a:r>
            <a:r>
              <a:rPr lang="en-IN" b="1" dirty="0"/>
              <a:t>Answer:</a:t>
            </a:r>
            <a:r>
              <a:rPr lang="en-IN" dirty="0"/>
              <a:t> </a:t>
            </a:r>
            <a:r>
              <a:rPr lang="en-IN" b="1" dirty="0"/>
              <a:t>B. Human Resources (HR)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65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 </a:t>
            </a:r>
            <a:r>
              <a:rPr lang="en-IN" b="1" dirty="0"/>
              <a:t>Answer:</a:t>
            </a:r>
            <a:r>
              <a:rPr lang="en-IN" dirty="0"/>
              <a:t> </a:t>
            </a:r>
            <a:r>
              <a:rPr lang="en-IN" b="1" dirty="0"/>
              <a:t>B. By writing code, explaining errors, generating tests, and creating documentation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395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 </a:t>
            </a:r>
            <a:r>
              <a:rPr lang="en-IN" b="1" dirty="0"/>
              <a:t>Answer:</a:t>
            </a:r>
            <a:r>
              <a:rPr lang="en-IN" dirty="0"/>
              <a:t> </a:t>
            </a:r>
            <a:r>
              <a:rPr lang="en-IN" b="1" dirty="0"/>
              <a:t>C. It improves productivity by reducing repetitive work.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D17D6-715C-4A46-AAB1-1034205356A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976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1CB9C-D4F4-1EDE-FB26-8C6DD0D7C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59B66-EEA8-E550-B0E0-EAAB96670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8DD28-FAC7-DA82-F58E-41CA319B8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01991-5573-A713-07B2-6B206F37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A7076-84A0-EAE3-E7AD-8221E8E9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28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686C-BA6E-81F0-8C99-1B3F95FA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A1F99-2A73-62E7-5B7B-57C27405C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F3CFA-A18C-3C47-BC43-43B1C868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1D689-F6BA-C231-EAF0-CB847098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2E1BF-3B7B-D7C4-2B7C-40E6B3DA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43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83D5-DE15-86A9-7BA0-A51D3CBC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76D30-52FE-9BD6-FF6F-05FC36224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F5611-2598-A332-7236-EF4E8E49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04BB0-6622-E0BE-1B30-590DD38E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0BD7A-33C5-2C71-3744-1A593F75D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85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6275-2CFE-CB5D-3823-FFBA633F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5FE6-F9A0-E6F6-4713-4AEB715D8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F9DE7-CF56-9703-87F5-B408BF871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FA2EA-90F1-B550-0385-9C580A78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7CA9E-A828-9BD6-293C-2ED9AEBA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B30AD-533D-CC20-68B3-15A4C41B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79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A3C1-13A4-7858-8CAF-F30C5814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54FC-6887-5E3C-D8AF-CBD928849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E8018-ACAA-2C3E-9E00-AAC1E789F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7E4DF1-201C-5329-9852-1F083D856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A1279-06D7-6970-909D-47D1FCA7D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D5BD49-D432-A5DC-1BC5-7F8BE5EEE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20BC2A-D7C0-CE97-DC33-C635DD2F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D1EE3-1AC9-38FE-FA53-3F6264D7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66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298A-1E89-A815-D0B3-E5306A27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2447-265F-86C0-CFEE-B57F61E2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EF7BE-AD85-B71D-5BFF-C48FD430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FC2A7-2D1A-ACF3-4A08-34DB5A05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08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03DC7-3618-3D88-D20A-E0E6D7F0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A675C-BABD-AD8E-8B4D-DBF86F71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47DC8-2AA7-473B-ECEE-A2BD338F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1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3BB3-44F8-E87D-81C2-5851EA72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96811-F2DD-A495-6E43-956909344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F3560-B3CA-369C-DA4B-8CD7EB665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C7963-AB29-3640-AF9E-DD8AE0EF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6C1C7-09E9-CD82-9F3E-4DB1D718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59C95-B351-2A17-977E-A4730265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92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7162-4F99-2931-05C0-9F90E11D9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0F1BB-2814-6949-24B2-E12D401B2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1D260-070C-95B4-83FD-05BF0C1F1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656B-9FDB-971C-43F7-08B9F5BF7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CBA57-BCB8-04EF-EA5C-E0D1093E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DC107-C7CD-AA9F-F17F-A966DB36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40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C00C-1D3B-044E-08FF-969DA13A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3560B-6D1A-D7E6-5251-55F4EB398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13828-8C2F-7ABB-B207-EABF3C14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E8E42-34DF-9E1A-9656-E0C684A6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565CF-6DA1-6FEE-0051-9ECD866D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71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4EA3D-E707-ECC9-F0DC-97F881521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46209-7DDD-6029-DBF2-9E0008C1A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352A3-9410-6CD1-B403-718CF42F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2A974-29D0-1CE5-362F-B750728B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E3647-D446-BBBA-CBD1-F69241C6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89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00019-65D0-45FB-D3F9-FBE22EEF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44338-7A79-1013-DDCC-8A21332E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BF460-86BB-042B-0AEB-3838C95E1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20423-641C-4CD4-9322-460FF1C529AD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B0611-6A1D-2A9F-698A-D702BFCD1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3E3B2-47E2-6E44-EEFB-153FF7C63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55CE-0E89-4192-BE4A-11E972A96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11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70FE-EF4A-9D55-554D-E7F5BC54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chemeClr val="tx2"/>
                </a:solidFill>
              </a:rPr>
              <a:t>CHAP 1 : UNDERSTANDING AI &amp; GENERATIVE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5A11B-5979-6B25-68D9-FF391B0CE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139" y="1963998"/>
            <a:ext cx="4656734" cy="443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3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1BB1-DA06-3865-46BE-F6484432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4EACB-7ABA-39BB-7B69-6A5545099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/>
              <a:t>• Artificial Intelligence Fundamentals</a:t>
            </a:r>
            <a:br>
              <a:rPr lang="en-IN" dirty="0"/>
            </a:br>
            <a:r>
              <a:rPr lang="en-IN" dirty="0"/>
              <a:t>• Evolution of AI Technologies</a:t>
            </a:r>
            <a:br>
              <a:rPr lang="en-IN" dirty="0"/>
            </a:br>
            <a:r>
              <a:rPr lang="en-IN" dirty="0"/>
              <a:t>• Traditional AI vs Generative AI</a:t>
            </a:r>
            <a:br>
              <a:rPr lang="en-IN" dirty="0"/>
            </a:br>
            <a:r>
              <a:rPr lang="en-IN" dirty="0"/>
              <a:t>• How Generative AI Works</a:t>
            </a:r>
            <a:br>
              <a:rPr lang="en-IN" dirty="0"/>
            </a:br>
            <a:r>
              <a:rPr lang="en-IN" dirty="0"/>
              <a:t>• Types of Generative AI Models</a:t>
            </a:r>
            <a:br>
              <a:rPr lang="en-IN" dirty="0"/>
            </a:br>
            <a:r>
              <a:rPr lang="en-IN" dirty="0"/>
              <a:t>• Enterprise Applications &amp; Use Cases</a:t>
            </a:r>
            <a:br>
              <a:rPr lang="en-IN" dirty="0"/>
            </a:br>
            <a:r>
              <a:rPr lang="en-IN" dirty="0"/>
              <a:t>• Business Impact and Opportunities</a:t>
            </a:r>
            <a:br>
              <a:rPr lang="en-IN" dirty="0"/>
            </a:br>
            <a:r>
              <a:rPr lang="en-IN" dirty="0"/>
              <a:t>• Chapter Review &amp; Discussion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679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F245-87EB-FBED-F2EE-1F2F06412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are we learning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08187-C594-350A-A7B1-F135FB157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92025" cy="4351338"/>
          </a:xfrm>
        </p:spPr>
        <p:txBody>
          <a:bodyPr/>
          <a:lstStyle/>
          <a:p>
            <a:pPr>
              <a:buNone/>
            </a:pPr>
            <a:r>
              <a:rPr lang="en-IN" dirty="0"/>
              <a:t>✔ AI is changing the software industry.</a:t>
            </a:r>
          </a:p>
          <a:p>
            <a:pPr>
              <a:buNone/>
            </a:pPr>
            <a:r>
              <a:rPr lang="en-IN" dirty="0"/>
              <a:t>✔ Every software role is using AI.</a:t>
            </a:r>
          </a:p>
          <a:p>
            <a:pPr>
              <a:buNone/>
            </a:pPr>
            <a:r>
              <a:rPr lang="en-IN" dirty="0"/>
              <a:t>✔ AI helps us work faster and smarter.</a:t>
            </a:r>
          </a:p>
          <a:p>
            <a:pPr>
              <a:buNone/>
            </a:pPr>
            <a:r>
              <a:rPr lang="en-IN" dirty="0"/>
              <a:t>✔ AI is a productivity tool, not a replacement.</a:t>
            </a:r>
          </a:p>
          <a:p>
            <a:pPr>
              <a:buNone/>
            </a:pPr>
            <a:r>
              <a:rPr lang="en-IN" dirty="0"/>
              <a:t>✔ Learning AI is becoming an important professional skill.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B3815-6E20-05C5-063F-2B670477712C}"/>
              </a:ext>
            </a:extLst>
          </p:cNvPr>
          <p:cNvSpPr txBox="1"/>
          <p:nvPr/>
        </p:nvSpPr>
        <p:spPr>
          <a:xfrm>
            <a:off x="9547965" y="1787721"/>
            <a:ext cx="60939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Oracle JET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(Build)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>
                <a:solidFill>
                  <a:schemeClr val="accent1"/>
                </a:solidFill>
              </a:rPr>
              <a:t>DevOps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(Deploy)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>
                <a:solidFill>
                  <a:schemeClr val="accent1"/>
                </a:solidFill>
              </a:rPr>
              <a:t>        ↓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>
                <a:solidFill>
                  <a:schemeClr val="accent1"/>
                </a:solidFill>
              </a:rPr>
              <a:t>AI</a:t>
            </a:r>
          </a:p>
          <a:p>
            <a:r>
              <a:rPr lang="en-IN" sz="2000" b="1" dirty="0">
                <a:solidFill>
                  <a:schemeClr val="accent1"/>
                </a:solidFill>
              </a:rPr>
              <a:t>(Work Smarter)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AAEEF-22BC-3773-0B60-18CF8ECB6BC8}"/>
              </a:ext>
            </a:extLst>
          </p:cNvPr>
          <p:cNvSpPr txBox="1"/>
          <p:nvPr/>
        </p:nvSpPr>
        <p:spPr>
          <a:xfrm>
            <a:off x="3284950" y="5670406"/>
            <a:ext cx="7822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Developer + AI = Better Productivity</a:t>
            </a:r>
          </a:p>
        </p:txBody>
      </p:sp>
    </p:spTree>
    <p:extLst>
      <p:ext uri="{BB962C8B-B14F-4D97-AF65-F5344CB8AC3E}">
        <p14:creationId xmlns:p14="http://schemas.microsoft.com/office/powerpoint/2010/main" val="399767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6A84-B490-BF40-AD6F-0B1A443D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Around 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C0DE-6148-3DC3-C01A-7614BF64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77001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📺 Netflix → Movie Recommendations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📧 Gmail → Spam Detection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🗺 Google Maps → Best Route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🛒 Amazon → Product Recommendations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💳 Banking Apps → Fraud Detection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📱 Instagram → Content Suggestions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💬 ChatGPT → Content Generation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E0914-0E3A-53AE-6ABB-6D93D7983BBF}"/>
              </a:ext>
            </a:extLst>
          </p:cNvPr>
          <p:cNvSpPr txBox="1"/>
          <p:nvPr/>
        </p:nvSpPr>
        <p:spPr>
          <a:xfrm>
            <a:off x="7315201" y="2148864"/>
            <a:ext cx="686113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 Netflix</a:t>
            </a:r>
          </a:p>
          <a:p>
            <a:endParaRPr lang="en-IN" dirty="0"/>
          </a:p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Instagram              Google Maps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sz="3600" b="1" dirty="0">
                <a:solidFill>
                  <a:srgbClr val="FF0000"/>
                </a:solidFill>
              </a:rPr>
              <a:t>👤 You</a:t>
            </a:r>
          </a:p>
          <a:p>
            <a:endParaRPr lang="en-IN" dirty="0"/>
          </a:p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Banking      Gmail</a:t>
            </a:r>
          </a:p>
          <a:p>
            <a:endParaRPr lang="en-IN" dirty="0"/>
          </a:p>
          <a:p>
            <a:r>
              <a:rPr lang="en-IN" dirty="0"/>
              <a:t>        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ChatGPT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511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710B-69BF-3DE6-2D0B-3806E052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DB3A0-7B01-8DD3-D179-25680B0A6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Artificial Intelligence is the ability of a computer system to perform tasks that normally require human intelligence.</a:t>
            </a:r>
            <a:endParaRPr lang="en-IN" sz="2000" dirty="0"/>
          </a:p>
          <a:p>
            <a:r>
              <a:rPr lang="en-IN" sz="2000" dirty="0"/>
              <a:t>Examples:</a:t>
            </a:r>
          </a:p>
          <a:p>
            <a:r>
              <a:rPr lang="en-IN" sz="2000" dirty="0"/>
              <a:t>Learning </a:t>
            </a:r>
          </a:p>
          <a:p>
            <a:r>
              <a:rPr lang="en-IN" sz="2000" dirty="0"/>
              <a:t>Reasoning </a:t>
            </a:r>
          </a:p>
          <a:p>
            <a:r>
              <a:rPr lang="en-IN" sz="2000" dirty="0"/>
              <a:t>Problem Solving </a:t>
            </a:r>
          </a:p>
          <a:p>
            <a:r>
              <a:rPr lang="en-IN" sz="2000" dirty="0"/>
              <a:t>Decision Making </a:t>
            </a:r>
          </a:p>
          <a:p>
            <a:r>
              <a:rPr lang="en-IN" sz="2000" dirty="0"/>
              <a:t>Understanding Language </a:t>
            </a:r>
          </a:p>
          <a:p>
            <a:r>
              <a:rPr lang="en-IN" sz="2000" dirty="0"/>
              <a:t>At the bottom:</a:t>
            </a:r>
          </a:p>
          <a:p>
            <a:r>
              <a:rPr lang="en-IN" sz="2000" b="1" dirty="0"/>
              <a:t>AI does not think like humans. It learns patterns from data.</a:t>
            </a: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8377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06A5-B599-9710-9955-78F7426C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History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F4BC-C603-CF2B-BD48-CF58B1A68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1950s - Rule-Based Systems:</a:t>
            </a:r>
            <a:r>
              <a:rPr lang="en-IN" sz="2000" dirty="0"/>
              <a:t> Explicitly programmed "If/Then" logic paths. If a condition wasn't explicitly coded, the system failed.</a:t>
            </a:r>
          </a:p>
          <a:p>
            <a:r>
              <a:rPr lang="en-IN" sz="2000" b="1" dirty="0"/>
              <a:t>2000s - Machine Learning:</a:t>
            </a:r>
            <a:r>
              <a:rPr lang="en-IN" sz="2000" dirty="0"/>
              <a:t> Algorithms learn patterns directly from data </a:t>
            </a:r>
            <a:r>
              <a:rPr lang="en-IN" sz="2000" i="1" dirty="0"/>
              <a:t>without</a:t>
            </a:r>
            <a:r>
              <a:rPr lang="en-IN" sz="2000" dirty="0"/>
              <a:t> being explicitly hardcoded ($Y = f(X)$).</a:t>
            </a:r>
          </a:p>
          <a:p>
            <a:r>
              <a:rPr lang="en-IN" sz="2000" b="1" dirty="0"/>
              <a:t>2010s - Deep Learning:</a:t>
            </a:r>
            <a:r>
              <a:rPr lang="en-IN" sz="2000" dirty="0"/>
              <a:t> Multi-layered artificial neural networks processing unlabelled complex data (images, voice).</a:t>
            </a:r>
          </a:p>
          <a:p>
            <a:r>
              <a:rPr lang="en-IN" sz="2000" b="1" dirty="0"/>
              <a:t>2020s - Generative AI:</a:t>
            </a:r>
            <a:r>
              <a:rPr lang="en-IN" sz="2000" dirty="0"/>
              <a:t> Emergence of parallel-processed Transformer architectures capable of scaling to human-like text creation.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7616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E2CA-6F7F-8AC6-FE6C-58A056BA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459"/>
            <a:ext cx="10515600" cy="1325563"/>
          </a:xfrm>
        </p:spPr>
        <p:txBody>
          <a:bodyPr/>
          <a:lstStyle/>
          <a:p>
            <a:r>
              <a:rPr lang="en-IN" dirty="0"/>
              <a:t>The 3 Horizons of AI Capacity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870F56-E635-D2BB-0C01-42B4E879C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992498"/>
              </p:ext>
            </p:extLst>
          </p:nvPr>
        </p:nvGraphicFramePr>
        <p:xfrm>
          <a:off x="388307" y="1690688"/>
          <a:ext cx="10965493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CBF8B0E-53CF-2F94-B9C4-ABFF892F6F6F}"/>
              </a:ext>
            </a:extLst>
          </p:cNvPr>
          <p:cNvSpPr txBox="1"/>
          <p:nvPr/>
        </p:nvSpPr>
        <p:spPr>
          <a:xfrm>
            <a:off x="3049044" y="6308209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Today, almost all AI applications belong to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ANI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4389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4CBE-E100-E4DF-C261-2AC80FEE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AI vs. Generative AI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2FC7CE4-F8AD-E813-D816-84F8AD043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969497"/>
              </p:ext>
            </p:extLst>
          </p:nvPr>
        </p:nvGraphicFramePr>
        <p:xfrm>
          <a:off x="563671" y="1568739"/>
          <a:ext cx="6563640" cy="2590800"/>
        </p:xfrm>
        <a:graphic>
          <a:graphicData uri="http://schemas.openxmlformats.org/drawingml/2006/table">
            <a:tbl>
              <a:tblPr/>
              <a:tblGrid>
                <a:gridCol w="3300087">
                  <a:extLst>
                    <a:ext uri="{9D8B030D-6E8A-4147-A177-3AD203B41FA5}">
                      <a16:colId xmlns:a16="http://schemas.microsoft.com/office/drawing/2014/main" val="2885540949"/>
                    </a:ext>
                  </a:extLst>
                </a:gridCol>
                <a:gridCol w="3263553">
                  <a:extLst>
                    <a:ext uri="{9D8B030D-6E8A-4147-A177-3AD203B41FA5}">
                      <a16:colId xmlns:a16="http://schemas.microsoft.com/office/drawing/2014/main" val="927883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2000" b="1" dirty="0"/>
                        <a:t>Traditional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2000" b="1" dirty="0"/>
                        <a:t>Generative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740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Predicts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Creates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591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Classifies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Generates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661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Uses existing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Produces new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8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Spam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4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Fraud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GitHub 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6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Recommendation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Image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747422"/>
                  </a:ext>
                </a:extLst>
              </a:tr>
            </a:tbl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7CD82B8-D2A4-C886-9973-868EF64AE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968963"/>
              </p:ext>
            </p:extLst>
          </p:nvPr>
        </p:nvGraphicFramePr>
        <p:xfrm>
          <a:off x="-1249819" y="4362871"/>
          <a:ext cx="5972132" cy="2130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C432E19-0DB1-8B59-6583-5409BBC04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8281878"/>
              </p:ext>
            </p:extLst>
          </p:nvPr>
        </p:nvGraphicFramePr>
        <p:xfrm>
          <a:off x="2272083" y="4362871"/>
          <a:ext cx="5972132" cy="2130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13664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81E9-189E-F0A7-788F-A834709E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58F57-59C9-72F2-3117-DE48A069B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/>
              <a:t>Generative AI is a type of Artificial Intelligence that creates new content based on the instructions given by the user.</a:t>
            </a:r>
            <a:endParaRPr lang="en-IN" sz="2400" dirty="0"/>
          </a:p>
          <a:p>
            <a:r>
              <a:rPr lang="en-IN" sz="2400" dirty="0"/>
              <a:t>It can generate:</a:t>
            </a:r>
          </a:p>
          <a:p>
            <a:r>
              <a:rPr lang="en-IN" sz="2400" dirty="0"/>
              <a:t> Text </a:t>
            </a:r>
          </a:p>
          <a:p>
            <a:r>
              <a:rPr lang="en-IN" sz="2400" dirty="0"/>
              <a:t>Code </a:t>
            </a:r>
          </a:p>
          <a:p>
            <a:r>
              <a:rPr lang="en-IN" sz="2400" dirty="0"/>
              <a:t> Images </a:t>
            </a:r>
          </a:p>
          <a:p>
            <a:r>
              <a:rPr lang="en-IN" sz="2400" dirty="0"/>
              <a:t> Audio </a:t>
            </a:r>
          </a:p>
          <a:p>
            <a:r>
              <a:rPr lang="en-IN" sz="2400" dirty="0"/>
              <a:t> Videos </a:t>
            </a:r>
          </a:p>
          <a:p>
            <a:r>
              <a:rPr lang="en-IN" sz="2400" dirty="0"/>
              <a:t> Presentations </a:t>
            </a:r>
          </a:p>
          <a:p>
            <a:pPr marL="0" indent="0">
              <a:buNone/>
            </a:pPr>
            <a:r>
              <a:rPr lang="en-IN" sz="2400" b="1" dirty="0"/>
              <a:t>Generative AI creates. It does not simply search or copy information.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290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55538-3F77-775C-1CF1-ACD2DDB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Five Modalities of Content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6E1D-DCD5-52AC-9195-34D79D51F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b="1" dirty="0"/>
              <a:t>The Generative Toolkit: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Text:</a:t>
            </a:r>
            <a:r>
              <a:rPr lang="en-IN" sz="2400" dirty="0"/>
              <a:t> Long-form summaries, reports, technical specifications, emails.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Code:</a:t>
            </a:r>
            <a:r>
              <a:rPr lang="en-IN" sz="2400" dirty="0"/>
              <a:t> Functional programming blocks, database queries, infrastructure scripts.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Images:</a:t>
            </a:r>
            <a:r>
              <a:rPr lang="en-IN" sz="2400" dirty="0"/>
              <a:t> Synthetic user interfaces, architectural </a:t>
            </a:r>
            <a:r>
              <a:rPr lang="en-IN" sz="2400" dirty="0" err="1"/>
              <a:t>mockups</a:t>
            </a:r>
            <a:r>
              <a:rPr lang="en-IN" sz="2400" dirty="0"/>
              <a:t>, visual assets.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Audio:</a:t>
            </a:r>
            <a:r>
              <a:rPr lang="en-IN" sz="2400" dirty="0"/>
              <a:t> Synthetic voiceovers, voice command recognition, text-to-speech.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Video:</a:t>
            </a:r>
            <a:r>
              <a:rPr lang="en-IN" sz="2400" dirty="0"/>
              <a:t> Dynamic simulation environments, automated walkthrough captures.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1231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36BEF-21D2-63EF-321B-B9A9B47F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Understanding AI, LLM and ChatGPT and Where Does ChatGPT Fit?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96188E4-4D1B-A963-98C4-62BB9B4EB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53826"/>
              </p:ext>
            </p:extLst>
          </p:nvPr>
        </p:nvGraphicFramePr>
        <p:xfrm>
          <a:off x="427160" y="1436944"/>
          <a:ext cx="11136923" cy="1464005"/>
        </p:xfrm>
        <a:graphic>
          <a:graphicData uri="http://schemas.openxmlformats.org/drawingml/2006/table">
            <a:tbl>
              <a:tblPr/>
              <a:tblGrid>
                <a:gridCol w="3745269">
                  <a:extLst>
                    <a:ext uri="{9D8B030D-6E8A-4147-A177-3AD203B41FA5}">
                      <a16:colId xmlns:a16="http://schemas.microsoft.com/office/drawing/2014/main" val="3843628650"/>
                    </a:ext>
                  </a:extLst>
                </a:gridCol>
                <a:gridCol w="3695827">
                  <a:extLst>
                    <a:ext uri="{9D8B030D-6E8A-4147-A177-3AD203B41FA5}">
                      <a16:colId xmlns:a16="http://schemas.microsoft.com/office/drawing/2014/main" val="1374554163"/>
                    </a:ext>
                  </a:extLst>
                </a:gridCol>
                <a:gridCol w="3695827">
                  <a:extLst>
                    <a:ext uri="{9D8B030D-6E8A-4147-A177-3AD203B41FA5}">
                      <a16:colId xmlns:a16="http://schemas.microsoft.com/office/drawing/2014/main" val="661192441"/>
                    </a:ext>
                  </a:extLst>
                </a:gridCol>
              </a:tblGrid>
              <a:tr h="1013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Generative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Large Language Model (LLM)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295366"/>
                  </a:ext>
                </a:extLst>
              </a:tr>
              <a:tr h="45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The 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The AI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The application you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9214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AA72EE1-E989-3AC9-D164-F505A3A39F14}"/>
              </a:ext>
            </a:extLst>
          </p:cNvPr>
          <p:cNvSpPr txBox="1"/>
          <p:nvPr/>
        </p:nvSpPr>
        <p:spPr>
          <a:xfrm>
            <a:off x="427160" y="2900949"/>
            <a:ext cx="113376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Generative AI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Creates new content like text, code, images and summaries. </a:t>
            </a:r>
          </a:p>
          <a:p>
            <a:pPr>
              <a:buNone/>
            </a:pPr>
            <a:r>
              <a:rPr lang="en-IN" sz="2400" b="1" dirty="0"/>
              <a:t>LLM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 type of Generative AI that understands and generates human language. </a:t>
            </a:r>
          </a:p>
          <a:p>
            <a:pPr>
              <a:buNone/>
            </a:pPr>
            <a:r>
              <a:rPr lang="en-IN" sz="2400" b="1" dirty="0"/>
              <a:t>ChatGPT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 chat application that allows users to interact with an LLM. </a:t>
            </a:r>
          </a:p>
          <a:p>
            <a:pPr>
              <a:buNone/>
            </a:pPr>
            <a:r>
              <a:rPr lang="en-IN" sz="2400" dirty="0"/>
              <a:t>At the bottom of the slide, highlight this sentence:</a:t>
            </a:r>
          </a:p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ChatGPT is an application powered by an LLM. An LLM is one type of Generative AI.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33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B111-6F89-C686-179B-A3A066E51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Generative AI Works (High-Level Framework)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8A47-8865-B201-9F59-C97700BE5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4246" cy="4351338"/>
          </a:xfrm>
        </p:spPr>
        <p:txBody>
          <a:bodyPr/>
          <a:lstStyle/>
          <a:p>
            <a:r>
              <a:rPr lang="en-IN" b="1"/>
              <a:t>Training:</a:t>
            </a:r>
            <a:r>
              <a:rPr lang="en-IN"/>
              <a:t> Learning from massive datasets.</a:t>
            </a:r>
          </a:p>
          <a:p>
            <a:r>
              <a:rPr lang="en-IN" b="1"/>
              <a:t>Patterns:</a:t>
            </a:r>
            <a:r>
              <a:rPr lang="en-IN"/>
              <a:t> Identifying structures, grammar, and pixel relationships.</a:t>
            </a:r>
          </a:p>
          <a:p>
            <a:r>
              <a:rPr lang="en-IN" b="1"/>
              <a:t>Prediction:</a:t>
            </a:r>
            <a:r>
              <a:rPr lang="en-IN"/>
              <a:t> Anticipating the most logical next word or element.</a:t>
            </a:r>
          </a:p>
          <a:p>
            <a:r>
              <a:rPr lang="en-IN" b="1"/>
              <a:t>Generation:</a:t>
            </a:r>
            <a:r>
              <a:rPr lang="en-IN"/>
              <a:t> Creating entirely brand-new content.</a:t>
            </a:r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09D68C3-F0D8-1028-15D7-23DC7032EF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7011978"/>
              </p:ext>
            </p:extLst>
          </p:nvPr>
        </p:nvGraphicFramePr>
        <p:xfrm>
          <a:off x="6621585" y="68103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C6448D-428B-3251-2DE4-B5AE6EB666DF}"/>
              </a:ext>
            </a:extLst>
          </p:cNvPr>
          <p:cNvSpPr txBox="1"/>
          <p:nvPr/>
        </p:nvSpPr>
        <p:spPr>
          <a:xfrm>
            <a:off x="628650" y="5776538"/>
            <a:ext cx="7376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AI generates responses based on patterns learned from data. It does not "think" like a human.</a:t>
            </a:r>
          </a:p>
        </p:txBody>
      </p:sp>
    </p:spTree>
    <p:extLst>
      <p:ext uri="{BB962C8B-B14F-4D97-AF65-F5344CB8AC3E}">
        <p14:creationId xmlns:p14="http://schemas.microsoft.com/office/powerpoint/2010/main" val="3540872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8572-811C-147B-3B7A-58F6BB32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Enterprise Applications of Generative AI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ECA980-AA86-7EBD-547C-B66FCD295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845853"/>
              </p:ext>
            </p:extLst>
          </p:nvPr>
        </p:nvGraphicFramePr>
        <p:xfrm>
          <a:off x="715108" y="1947411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908685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18508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09827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💻 Software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📞 Customer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📄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12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code, debug,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Chatbots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Reports, manuals, emails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1925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4089E1-8F7D-BE92-5848-9EE25A9D4F6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635534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808809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21607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93030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📊 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🎯 Business Productivity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📚 Learning &amp;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116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Summarize data,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Meeting notes, presentations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Explain concepts, create quizzes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2755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357479-D7CA-12F9-68AE-8CFA727741D8}"/>
              </a:ext>
            </a:extLst>
          </p:cNvPr>
          <p:cNvSpPr txBox="1"/>
          <p:nvPr/>
        </p:nvSpPr>
        <p:spPr>
          <a:xfrm>
            <a:off x="838200" y="5323657"/>
            <a:ext cx="9958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Generative AI helps people work faster, improve quality, and save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574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C70E-0DF4-B74D-75BE-12B57085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E6166-F19F-2CF7-8A68-874038E4B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Question 1:</a:t>
            </a:r>
            <a:r>
              <a:rPr lang="en-IN" dirty="0"/>
              <a:t> When Spotify generates your automated "Discover Weekly" playlist, is it using Predictive AI or Generative AI?</a:t>
            </a:r>
          </a:p>
          <a:p>
            <a:endParaRPr lang="en-IN" dirty="0"/>
          </a:p>
          <a:p>
            <a:r>
              <a:rPr lang="en-IN" i="1" dirty="0"/>
              <a:t>Question 2:</a:t>
            </a:r>
            <a:r>
              <a:rPr lang="en-IN" dirty="0"/>
              <a:t> If you ask an assistant to read an internal corporate wiki and draft a 500-word software onboarding manual, which paradigm is active?  </a:t>
            </a:r>
          </a:p>
        </p:txBody>
      </p:sp>
    </p:spTree>
    <p:extLst>
      <p:ext uri="{BB962C8B-B14F-4D97-AF65-F5344CB8AC3E}">
        <p14:creationId xmlns:p14="http://schemas.microsoft.com/office/powerpoint/2010/main" val="2613243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BDBC-41CA-94EC-4E2C-A3A94A52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Generative AI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CC7F72-05C3-0266-52D0-3357B802B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377084"/>
              </p:ext>
            </p:extLst>
          </p:nvPr>
        </p:nvGraphicFramePr>
        <p:xfrm>
          <a:off x="1348155" y="1690688"/>
          <a:ext cx="10515600" cy="27736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251450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05169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55566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accent1"/>
                          </a:solidFill>
                        </a:rPr>
                        <a:t>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accent1"/>
                          </a:solidFill>
                        </a:rPr>
                        <a:t>AI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/>
                          </a:solidFill>
                        </a:rPr>
                        <a:t>Known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3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General-purpose AI, coding, writing, reasoning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35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integration, multimodal capabilities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294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Anthropic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documents, coding,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681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Open-source AI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61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Oracle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OCI Generative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Enterprise AI for Oracle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25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2999E1-3207-CA0A-68E6-03F236A9F2E7}"/>
              </a:ext>
            </a:extLst>
          </p:cNvPr>
          <p:cNvSpPr txBox="1"/>
          <p:nvPr/>
        </p:nvSpPr>
        <p:spPr>
          <a:xfrm>
            <a:off x="1348154" y="4844146"/>
            <a:ext cx="90971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Different AI models have different strengths. The best model depends on the business requirement.</a:t>
            </a:r>
          </a:p>
        </p:txBody>
      </p:sp>
    </p:spTree>
    <p:extLst>
      <p:ext uri="{BB962C8B-B14F-4D97-AF65-F5344CB8AC3E}">
        <p14:creationId xmlns:p14="http://schemas.microsoft.com/office/powerpoint/2010/main" val="1090979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B4E7-63E3-F997-270D-AAE46ED3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Oracle's AI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5736B-A2D3-C149-B5D6-9C094DD7D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Oracle focuses on bringing AI directly into business applications.</a:t>
            </a:r>
          </a:p>
          <a:p>
            <a:pPr>
              <a:buNone/>
            </a:pPr>
            <a:r>
              <a:rPr lang="en-IN" b="1" dirty="0"/>
              <a:t>OCI Generative AI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Access enterprise-ready AI models through Oracle Cloud. </a:t>
            </a:r>
          </a:p>
          <a:p>
            <a:pPr>
              <a:buNone/>
            </a:pPr>
            <a:r>
              <a:rPr lang="en-IN" b="1" dirty="0"/>
              <a:t>AI in Oracle Fusion Applications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Built-in AI features in HCM, ERP and SCM. </a:t>
            </a:r>
          </a:p>
          <a:p>
            <a:pPr>
              <a:buNone/>
            </a:pPr>
            <a:r>
              <a:rPr lang="en-IN" b="1" dirty="0"/>
              <a:t>Enterprise Security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Designed with privacy, security and business data protection. </a:t>
            </a:r>
          </a:p>
          <a:p>
            <a:pPr>
              <a:buNone/>
            </a:pPr>
            <a:r>
              <a:rPr lang="en-IN" b="1" dirty="0"/>
              <a:t>Developer Productivity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services for application development and automation.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Oracle's goal is to make AI secure, reliable and useful for enterprise customers.</a:t>
            </a:r>
            <a:endParaRPr lang="en-IN" dirty="0">
              <a:solidFill>
                <a:srgbClr val="C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11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D8DB-BC3F-0EEC-1534-C7A1ECFA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Software Development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08856B-A956-8EA9-2BB6-20406AF84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564081"/>
              </p:ext>
            </p:extLst>
          </p:nvPr>
        </p:nvGraphicFramePr>
        <p:xfrm>
          <a:off x="433754" y="1690688"/>
          <a:ext cx="10515600" cy="3688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183858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94574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solidFill>
                            <a:schemeClr val="accent1"/>
                          </a:solidFill>
                        </a:rPr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solidFill>
                            <a:schemeClr val="accent1"/>
                          </a:solidFill>
                        </a:rPr>
                        <a:t>How AI Helps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0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Requirements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Summarize business requirements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875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Suggest UI layouts and workflows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843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Generate code and explain existing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24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test cases and test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54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Debugging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Explain errors and suggest fixes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88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Generate user guides and technical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293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7A82B9-C1D9-465B-31FA-933D4F05BBF7}"/>
              </a:ext>
            </a:extLst>
          </p:cNvPr>
          <p:cNvSpPr txBox="1"/>
          <p:nvPr/>
        </p:nvSpPr>
        <p:spPr>
          <a:xfrm>
            <a:off x="838200" y="5567681"/>
            <a:ext cx="88333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AI assists developers throughout the SDLC—it does not replace software engineering knowledge.</a:t>
            </a:r>
          </a:p>
        </p:txBody>
      </p:sp>
    </p:spTree>
    <p:extLst>
      <p:ext uri="{BB962C8B-B14F-4D97-AF65-F5344CB8AC3E}">
        <p14:creationId xmlns:p14="http://schemas.microsoft.com/office/powerpoint/2010/main" val="3716388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FDBB-5254-29BA-68C4-FE44B141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Generative AI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D5FB8D-E93B-3A7A-9FD1-24F81B2CCA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507990"/>
              </p:ext>
            </p:extLst>
          </p:nvPr>
        </p:nvGraphicFramePr>
        <p:xfrm>
          <a:off x="644769" y="1920240"/>
          <a:ext cx="10515600" cy="2499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496714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17686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tx2"/>
                          </a:solidFill>
                        </a:rPr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tx2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124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Faster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Generate reports, emails and code in 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09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Higher Productivity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Reduce repetitive manual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582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Better Creativity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Brainstorm ideas and create multiple solutions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637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Improved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Review content and suggest improvements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881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Better Decision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Summarize large documents and extract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1339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36F3FA-6BBC-A27B-A4B9-8100DBC16537}"/>
              </a:ext>
            </a:extLst>
          </p:cNvPr>
          <p:cNvSpPr txBox="1"/>
          <p:nvPr/>
        </p:nvSpPr>
        <p:spPr>
          <a:xfrm>
            <a:off x="838199" y="5075311"/>
            <a:ext cx="9659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C00000"/>
                </a:solidFill>
              </a:rPr>
              <a:t>AI helps people work smarter and faster, but human review is still important.</a:t>
            </a:r>
            <a:endParaRPr lang="en-I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134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AB9E-0D17-BA7C-BED4-53B90348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Enterprise Success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7D451-EF54-ADDB-D1E5-248CA669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1825624"/>
            <a:ext cx="11072446" cy="452242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JPMorgan Chase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reviews commercial loan documents.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Saves thousands of hours of manual work. </a:t>
            </a:r>
          </a:p>
          <a:p>
            <a:pPr>
              <a:buNone/>
            </a:pPr>
            <a:r>
              <a:rPr lang="en-IN" b="1" dirty="0"/>
              <a:t>Walmart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optimizes delivery routes and inventory planning.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Improves efficiency and reduces transportation costs. </a:t>
            </a:r>
          </a:p>
          <a:p>
            <a:pPr>
              <a:buNone/>
            </a:pPr>
            <a:r>
              <a:rPr lang="en-IN" b="1" dirty="0"/>
              <a:t> BMW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AI-powered computer vision checks vehicle quality during manufacturing.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detect defects earlier.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Organizations use AI to improve efficiency, accuracy and decision-making.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318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743C-E613-BE4C-FD0E-9D64D26E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Chapter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8817E-55F4-5246-E420-81E8AEFA6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Artificial Intelligence enables machines to assist humans in solving problems and performing tasks. </a:t>
            </a:r>
          </a:p>
          <a:p>
            <a:r>
              <a:rPr lang="en-IN" dirty="0"/>
              <a:t>Generative AI creates new content such as text, code, images, audio, and videos using Large Language Models (LLMs). </a:t>
            </a:r>
          </a:p>
          <a:p>
            <a:r>
              <a:rPr lang="en-IN" dirty="0"/>
              <a:t>Organizations are adopting AI across business functions to improve productivity, automation, and decision-making. </a:t>
            </a:r>
          </a:p>
          <a:p>
            <a:r>
              <a:rPr lang="en-IN" dirty="0"/>
              <a:t>AI supports software developers throughout the SDLC by assisting with coding, testing, debugging, and documentation.</a:t>
            </a:r>
          </a:p>
          <a:p>
            <a:r>
              <a:rPr lang="en-IN" dirty="0"/>
              <a:t> Effective use of AI depends on understanding its capabilities and communicating with it through clear prompts.</a:t>
            </a:r>
          </a:p>
        </p:txBody>
      </p:sp>
    </p:spTree>
    <p:extLst>
      <p:ext uri="{BB962C8B-B14F-4D97-AF65-F5344CB8AC3E}">
        <p14:creationId xmlns:p14="http://schemas.microsoft.com/office/powerpoint/2010/main" val="4140518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BBBC-0E4E-E709-6E2A-1AD9616C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A79D3-0143-460A-7F12-B495F233B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What is the primary purpose of Generative AI?</a:t>
            </a:r>
          </a:p>
          <a:p>
            <a:pPr marL="0" indent="0">
              <a:buNone/>
            </a:pPr>
            <a:r>
              <a:rPr lang="en-IN" dirty="0"/>
              <a:t>A. To store data securely</a:t>
            </a:r>
            <a:br>
              <a:rPr lang="en-IN" dirty="0"/>
            </a:br>
            <a:r>
              <a:rPr lang="en-IN" dirty="0"/>
              <a:t>B. To create new content such as text, code, and images</a:t>
            </a:r>
            <a:br>
              <a:rPr lang="en-IN" dirty="0"/>
            </a:br>
            <a:r>
              <a:rPr lang="en-IN" dirty="0"/>
              <a:t>C. To replace databases</a:t>
            </a:r>
            <a:br>
              <a:rPr lang="en-IN" dirty="0"/>
            </a:br>
            <a:r>
              <a:rPr lang="en-IN" dirty="0"/>
              <a:t>D. To improve internet speed</a:t>
            </a:r>
          </a:p>
        </p:txBody>
      </p:sp>
    </p:spTree>
    <p:extLst>
      <p:ext uri="{BB962C8B-B14F-4D97-AF65-F5344CB8AC3E}">
        <p14:creationId xmlns:p14="http://schemas.microsoft.com/office/powerpoint/2010/main" val="1382474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AB46-6D89-E39B-9340-55F76DBF9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F97C6-E6DA-BF77-6BF4-B4647CEB4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2. Which of the following is an example of a Large Language Model (LLM)?</a:t>
            </a:r>
          </a:p>
          <a:p>
            <a:r>
              <a:rPr lang="en-IN" dirty="0"/>
              <a:t>A. Oracle Database</a:t>
            </a:r>
            <a:br>
              <a:rPr lang="en-IN" dirty="0"/>
            </a:br>
            <a:r>
              <a:rPr lang="en-IN" dirty="0"/>
              <a:t>B. GPT</a:t>
            </a:r>
            <a:br>
              <a:rPr lang="en-IN" dirty="0"/>
            </a:br>
            <a:r>
              <a:rPr lang="en-IN" dirty="0"/>
              <a:t>C. Microsoft Excel</a:t>
            </a:r>
            <a:br>
              <a:rPr lang="en-IN" dirty="0"/>
            </a:br>
            <a:r>
              <a:rPr lang="en-IN" dirty="0"/>
              <a:t>D. 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128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91EA-47A4-2E67-E796-3F3AD62A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1AF65-DBB5-4B4A-045C-15D53F640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3. Which business function commonly uses AI for resume screening and candidate matching?</a:t>
            </a:r>
          </a:p>
          <a:p>
            <a:pPr>
              <a:buNone/>
            </a:pPr>
            <a:r>
              <a:rPr lang="en-IN" dirty="0"/>
              <a:t>A. Finance</a:t>
            </a:r>
            <a:br>
              <a:rPr lang="en-IN" dirty="0"/>
            </a:br>
            <a:r>
              <a:rPr lang="en-IN" dirty="0"/>
              <a:t>B. Human Resources (HR)</a:t>
            </a:r>
            <a:br>
              <a:rPr lang="en-IN" dirty="0"/>
            </a:br>
            <a:r>
              <a:rPr lang="en-IN" dirty="0"/>
              <a:t>C. Supply Chain</a:t>
            </a:r>
            <a:br>
              <a:rPr lang="en-IN" dirty="0"/>
            </a:br>
            <a:r>
              <a:rPr lang="en-IN" dirty="0"/>
              <a:t>D. Marketing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008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FC2F-496B-1AAE-FAF5-F11728E6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9D4C-9F75-5D63-D5DF-E67DC172A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4. How can AI assist software developers?</a:t>
            </a:r>
          </a:p>
          <a:p>
            <a:pPr>
              <a:buNone/>
            </a:pPr>
            <a:r>
              <a:rPr lang="en-IN" dirty="0"/>
              <a:t>A. By replacing all developers</a:t>
            </a:r>
            <a:br>
              <a:rPr lang="en-IN" dirty="0"/>
            </a:br>
            <a:r>
              <a:rPr lang="en-IN" dirty="0"/>
              <a:t>B. By writing code, explaining errors, generating tests, and creating documentation</a:t>
            </a:r>
            <a:br>
              <a:rPr lang="en-IN" dirty="0"/>
            </a:br>
            <a:r>
              <a:rPr lang="en-IN" dirty="0"/>
              <a:t>C. By designing computer hardware</a:t>
            </a:r>
            <a:br>
              <a:rPr lang="en-IN" dirty="0"/>
            </a:br>
            <a:r>
              <a:rPr lang="en-IN" dirty="0"/>
              <a:t>D. By increasing internet bandwidth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673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494A-E0E7-8E67-CA03-907E1EED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0E7F2-7249-E9AB-CA55-9A67CBFF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5. What is one of the main benefits of Generative AI for organizations?</a:t>
            </a:r>
          </a:p>
          <a:p>
            <a:r>
              <a:rPr lang="en-IN" dirty="0"/>
              <a:t>A. It eliminates the need for human review.</a:t>
            </a:r>
            <a:br>
              <a:rPr lang="en-IN" dirty="0"/>
            </a:br>
            <a:r>
              <a:rPr lang="en-IN" dirty="0"/>
              <a:t>B. It automatically makes every decision correctly.</a:t>
            </a:r>
            <a:br>
              <a:rPr lang="en-IN" dirty="0"/>
            </a:br>
            <a:r>
              <a:rPr lang="en-IN" dirty="0"/>
              <a:t>C. It improves productivity by reducing repetitive work.</a:t>
            </a:r>
            <a:br>
              <a:rPr lang="en-IN" dirty="0"/>
            </a:br>
            <a:r>
              <a:rPr lang="en-IN" dirty="0"/>
              <a:t>D. It guarantees 100% accurate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90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2015</TotalTime>
  <Words>1595</Words>
  <Application>Microsoft Office PowerPoint</Application>
  <PresentationFormat>Widescreen</PresentationFormat>
  <Paragraphs>271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CHAP 1 : UNDERSTANDING AI &amp; GENERATIVE AI</vt:lpstr>
      <vt:lpstr>Agenda</vt:lpstr>
      <vt:lpstr>Why are we learning AI?</vt:lpstr>
      <vt:lpstr>AI Around Us </vt:lpstr>
      <vt:lpstr>What is Artificial Intelligence?</vt:lpstr>
      <vt:lpstr>The History of AI</vt:lpstr>
      <vt:lpstr>The 3 Horizons of AI Capacity</vt:lpstr>
      <vt:lpstr>Traditional AI vs. Generative AI</vt:lpstr>
      <vt:lpstr>What is Generative AI?</vt:lpstr>
      <vt:lpstr>The Five Modalities of Content Generation</vt:lpstr>
      <vt:lpstr>Understanding AI, LLM and ChatGPT and Where Does ChatGPT Fit?</vt:lpstr>
      <vt:lpstr>How Generative AI Works (High-Level Framework)</vt:lpstr>
      <vt:lpstr>Enterprise Applications of Generative AI</vt:lpstr>
      <vt:lpstr>Knowledge Check</vt:lpstr>
      <vt:lpstr>Popular Generative AI Models</vt:lpstr>
      <vt:lpstr>Oracle's AI Vision</vt:lpstr>
      <vt:lpstr>AI in Software Development</vt:lpstr>
      <vt:lpstr>Benefits of Generative AI</vt:lpstr>
      <vt:lpstr>Real Enterprise Success Stories</vt:lpstr>
      <vt:lpstr>Chapter Summary</vt:lpstr>
      <vt:lpstr>Quiz </vt:lpstr>
      <vt:lpstr>Quiz</vt:lpstr>
      <vt:lpstr>Quiz</vt:lpstr>
      <vt:lpstr>Quiz</vt:lpstr>
      <vt:lpstr>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 J. Arora</dc:creator>
  <cp:lastModifiedBy>Richa J. Arora</cp:lastModifiedBy>
  <cp:revision>59</cp:revision>
  <dcterms:created xsi:type="dcterms:W3CDTF">2026-06-19T07:10:24Z</dcterms:created>
  <dcterms:modified xsi:type="dcterms:W3CDTF">2026-09-23T04:51:26Z</dcterms:modified>
</cp:coreProperties>
</file>